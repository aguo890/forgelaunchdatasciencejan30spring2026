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71500" y="1238250"/>
            <a:ext cx="8001000" cy="19050"/>
          </a:xfrm>
          <a:custGeom>
            <a:avLst/>
            <a:gdLst/>
            <a:ahLst/>
            <a:cxnLst/>
            <a:rect l="l" t="t" r="r" b="b"/>
            <a:pathLst>
              <a:path w="8001000" h="19050">
                <a:moveTo>
                  <a:pt x="8001000" y="0"/>
                </a:moveTo>
                <a:lnTo>
                  <a:pt x="0" y="0"/>
                </a:lnTo>
                <a:lnTo>
                  <a:pt x="0" y="19050"/>
                </a:lnTo>
                <a:lnTo>
                  <a:pt x="8001000" y="19050"/>
                </a:lnTo>
                <a:lnTo>
                  <a:pt x="800100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71500" y="3905250"/>
            <a:ext cx="8001000" cy="762000"/>
          </a:xfrm>
          <a:custGeom>
            <a:avLst/>
            <a:gdLst/>
            <a:ahLst/>
            <a:cxnLst/>
            <a:rect l="l" t="t" r="r" b="b"/>
            <a:pathLst>
              <a:path w="8001000" h="762000">
                <a:moveTo>
                  <a:pt x="7929803" y="0"/>
                </a:moveTo>
                <a:lnTo>
                  <a:pt x="71195" y="0"/>
                </a:lnTo>
                <a:lnTo>
                  <a:pt x="51660" y="3898"/>
                </a:lnTo>
                <a:lnTo>
                  <a:pt x="15620" y="29717"/>
                </a:lnTo>
                <a:lnTo>
                  <a:pt x="0" y="71145"/>
                </a:lnTo>
                <a:lnTo>
                  <a:pt x="0" y="690841"/>
                </a:lnTo>
                <a:lnTo>
                  <a:pt x="3884" y="710374"/>
                </a:lnTo>
                <a:lnTo>
                  <a:pt x="29704" y="746378"/>
                </a:lnTo>
                <a:lnTo>
                  <a:pt x="66240" y="761517"/>
                </a:lnTo>
                <a:lnTo>
                  <a:pt x="71195" y="762000"/>
                </a:lnTo>
                <a:lnTo>
                  <a:pt x="7929803" y="762000"/>
                </a:lnTo>
                <a:lnTo>
                  <a:pt x="7934756" y="761517"/>
                </a:lnTo>
                <a:lnTo>
                  <a:pt x="7949336" y="758088"/>
                </a:lnTo>
                <a:lnTo>
                  <a:pt x="7985379" y="732282"/>
                </a:lnTo>
                <a:lnTo>
                  <a:pt x="8001000" y="690841"/>
                </a:lnTo>
                <a:lnTo>
                  <a:pt x="8001000" y="71145"/>
                </a:lnTo>
                <a:lnTo>
                  <a:pt x="7997113" y="51625"/>
                </a:lnTo>
                <a:lnTo>
                  <a:pt x="7971294" y="15621"/>
                </a:lnTo>
                <a:lnTo>
                  <a:pt x="7929803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71500" y="1238250"/>
            <a:ext cx="8001000" cy="19050"/>
          </a:xfrm>
          <a:custGeom>
            <a:avLst/>
            <a:gdLst/>
            <a:ahLst/>
            <a:cxnLst/>
            <a:rect l="l" t="t" r="r" b="b"/>
            <a:pathLst>
              <a:path w="8001000" h="19050">
                <a:moveTo>
                  <a:pt x="8001000" y="0"/>
                </a:moveTo>
                <a:lnTo>
                  <a:pt x="0" y="0"/>
                </a:lnTo>
                <a:lnTo>
                  <a:pt x="0" y="19050"/>
                </a:lnTo>
                <a:lnTo>
                  <a:pt x="8001000" y="19050"/>
                </a:lnTo>
                <a:lnTo>
                  <a:pt x="800100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799" y="307259"/>
            <a:ext cx="7939405" cy="831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8799" y="1263993"/>
            <a:ext cx="6584315" cy="1224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D17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kaggle.com/datasets/pavansubhasht/ibm-hr-analytics-attrition-dataset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500" y="742950"/>
            <a:ext cx="2266950" cy="276225"/>
          </a:xfrm>
          <a:custGeom>
            <a:avLst/>
            <a:gdLst/>
            <a:ahLst/>
            <a:cxnLst/>
            <a:rect l="l" t="t" r="r" b="b"/>
            <a:pathLst>
              <a:path w="2266950" h="276225">
                <a:moveTo>
                  <a:pt x="2233891" y="0"/>
                </a:moveTo>
                <a:lnTo>
                  <a:pt x="33046" y="0"/>
                </a:lnTo>
                <a:lnTo>
                  <a:pt x="28186" y="965"/>
                </a:lnTo>
                <a:lnTo>
                  <a:pt x="0" y="33045"/>
                </a:lnTo>
                <a:lnTo>
                  <a:pt x="0" y="243166"/>
                </a:lnTo>
                <a:lnTo>
                  <a:pt x="965" y="248043"/>
                </a:lnTo>
                <a:lnTo>
                  <a:pt x="28186" y="275247"/>
                </a:lnTo>
                <a:lnTo>
                  <a:pt x="33046" y="276225"/>
                </a:lnTo>
                <a:lnTo>
                  <a:pt x="2233891" y="276225"/>
                </a:lnTo>
                <a:lnTo>
                  <a:pt x="2238768" y="275247"/>
                </a:lnTo>
                <a:lnTo>
                  <a:pt x="2266950" y="243166"/>
                </a:lnTo>
                <a:lnTo>
                  <a:pt x="2266950" y="33045"/>
                </a:lnTo>
                <a:lnTo>
                  <a:pt x="2265972" y="28181"/>
                </a:lnTo>
                <a:lnTo>
                  <a:pt x="2233891" y="0"/>
                </a:lnTo>
                <a:close/>
              </a:path>
            </a:pathLst>
          </a:custGeom>
          <a:solidFill>
            <a:srgbClr val="ECF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73099" y="771258"/>
            <a:ext cx="2018664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 b="1">
                <a:solidFill>
                  <a:srgbClr val="4D45E4"/>
                </a:solidFill>
                <a:latin typeface="Arial"/>
                <a:cs typeface="Arial"/>
              </a:rPr>
              <a:t>FORGE</a:t>
            </a:r>
            <a:r>
              <a:rPr dirty="0" sz="1150" spc="-145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150" spc="-70" b="1">
                <a:solidFill>
                  <a:srgbClr val="4D45E4"/>
                </a:solidFill>
                <a:latin typeface="Arial"/>
                <a:cs typeface="Arial"/>
              </a:rPr>
              <a:t>LAUNCH</a:t>
            </a:r>
            <a:r>
              <a:rPr dirty="0" sz="1150" spc="-85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150" b="1">
                <a:solidFill>
                  <a:srgbClr val="4D45E4"/>
                </a:solidFill>
                <a:latin typeface="Arial"/>
                <a:cs typeface="Arial"/>
              </a:rPr>
              <a:t>|</a:t>
            </a:r>
            <a:r>
              <a:rPr dirty="0" sz="1150" spc="5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150" spc="-80" b="1">
                <a:solidFill>
                  <a:srgbClr val="4D45E4"/>
                </a:solidFill>
                <a:latin typeface="Arial"/>
                <a:cs typeface="Arial"/>
              </a:rPr>
              <a:t>SPRING</a:t>
            </a:r>
            <a:r>
              <a:rPr dirty="0" sz="1150" spc="-100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4D45E4"/>
                </a:solidFill>
                <a:latin typeface="Arial"/>
                <a:cs typeface="Arial"/>
              </a:rPr>
              <a:t>2026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marL="12700" marR="5080">
              <a:lnSpc>
                <a:spcPts val="4470"/>
              </a:lnSpc>
              <a:spcBef>
                <a:spcPts val="675"/>
              </a:spcBef>
            </a:pPr>
            <a:r>
              <a:rPr dirty="0" spc="-240"/>
              <a:t>Predicting</a:t>
            </a:r>
            <a:r>
              <a:rPr dirty="0" spc="-685"/>
              <a:t> </a:t>
            </a:r>
            <a:r>
              <a:rPr dirty="0" spc="-285"/>
              <a:t>Employee</a:t>
            </a:r>
            <a:r>
              <a:rPr dirty="0" spc="-740"/>
              <a:t> </a:t>
            </a:r>
            <a:r>
              <a:rPr dirty="0" spc="-145"/>
              <a:t>Attrition</a:t>
            </a:r>
            <a:r>
              <a:rPr dirty="0" sz="4150" spc="-145">
                <a:latin typeface="Georgia"/>
                <a:cs typeface="Georgia"/>
              </a:rPr>
              <a:t>: </a:t>
            </a:r>
            <a:r>
              <a:rPr dirty="0" spc="-35"/>
              <a:t>A</a:t>
            </a:r>
            <a:r>
              <a:rPr dirty="0" spc="-645"/>
              <a:t> </a:t>
            </a:r>
            <a:r>
              <a:rPr dirty="0" spc="-250"/>
              <a:t>Diagnostic</a:t>
            </a:r>
            <a:r>
              <a:rPr dirty="0" spc="-695"/>
              <a:t> </a:t>
            </a:r>
            <a:r>
              <a:rPr dirty="0" spc="-270"/>
              <a:t>Approach</a:t>
            </a:r>
            <a:endParaRPr sz="4150">
              <a:latin typeface="Georgia"/>
              <a:cs typeface="Georg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8799" y="2842539"/>
            <a:ext cx="55860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90">
                <a:solidFill>
                  <a:srgbClr val="64728B"/>
                </a:solidFill>
                <a:latin typeface="Arial"/>
                <a:cs typeface="Arial"/>
              </a:rPr>
              <a:t>From</a:t>
            </a:r>
            <a:r>
              <a:rPr dirty="0" sz="2000" spc="-114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 spc="-40">
                <a:solidFill>
                  <a:srgbClr val="64728B"/>
                </a:solidFill>
                <a:latin typeface="Arial"/>
                <a:cs typeface="Arial"/>
              </a:rPr>
              <a:t>Descriptive</a:t>
            </a:r>
            <a:r>
              <a:rPr dirty="0" sz="2000" spc="-8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 spc="-50">
                <a:solidFill>
                  <a:srgbClr val="64728B"/>
                </a:solidFill>
                <a:latin typeface="Arial"/>
                <a:cs typeface="Arial"/>
              </a:rPr>
              <a:t>Stats</a:t>
            </a:r>
            <a:r>
              <a:rPr dirty="0" sz="2000" spc="-9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2000" spc="-2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64728B"/>
                </a:solidFill>
                <a:latin typeface="Arial"/>
                <a:cs typeface="Arial"/>
              </a:rPr>
              <a:t>Machine</a:t>
            </a:r>
            <a:r>
              <a:rPr dirty="0" sz="200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64728B"/>
                </a:solidFill>
                <a:latin typeface="Arial"/>
                <a:cs typeface="Arial"/>
              </a:rPr>
              <a:t>Learning</a:t>
            </a:r>
            <a:r>
              <a:rPr dirty="0" sz="200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64728B"/>
                </a:solidFill>
                <a:latin typeface="Arial"/>
                <a:cs typeface="Arial"/>
              </a:rPr>
              <a:t>Drivers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799" y="3968310"/>
            <a:ext cx="185801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Generated</a:t>
            </a:r>
            <a:r>
              <a:rPr dirty="0" sz="1050" spc="-30">
                <a:solidFill>
                  <a:srgbClr val="93A1B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by:</a:t>
            </a:r>
            <a:r>
              <a:rPr dirty="0" sz="1050" spc="-30">
                <a:solidFill>
                  <a:srgbClr val="93A1B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Aaron</a:t>
            </a:r>
            <a:r>
              <a:rPr dirty="0" sz="1050" spc="-25">
                <a:solidFill>
                  <a:srgbClr val="93A1B8"/>
                </a:solidFill>
                <a:latin typeface="Courier New"/>
                <a:cs typeface="Courier New"/>
              </a:rPr>
              <a:t> Guo </a:t>
            </a: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Date:</a:t>
            </a:r>
            <a:r>
              <a:rPr dirty="0" sz="1050" spc="-20">
                <a:solidFill>
                  <a:srgbClr val="93A1B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Jan</a:t>
            </a:r>
            <a:r>
              <a:rPr dirty="0" sz="1050" spc="-20">
                <a:solidFill>
                  <a:srgbClr val="93A1B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93A1B8"/>
                </a:solidFill>
                <a:latin typeface="Courier New"/>
                <a:cs typeface="Courier New"/>
              </a:rPr>
              <a:t>30,</a:t>
            </a:r>
            <a:r>
              <a:rPr dirty="0" sz="1050" spc="-15">
                <a:solidFill>
                  <a:srgbClr val="93A1B8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93A1B8"/>
                </a:solidFill>
                <a:latin typeface="Courier New"/>
                <a:cs typeface="Courier New"/>
              </a:rPr>
              <a:t>2026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175"/>
              </a:lnSpc>
              <a:spcBef>
                <a:spcPts val="100"/>
              </a:spcBef>
            </a:pPr>
            <a:r>
              <a:rPr dirty="0" spc="-235"/>
              <a:t>Baseline</a:t>
            </a:r>
            <a:r>
              <a:rPr dirty="0" spc="-355"/>
              <a:t> </a:t>
            </a:r>
            <a:r>
              <a:rPr dirty="0" spc="-220"/>
              <a:t>Analysis</a:t>
            </a:r>
            <a:r>
              <a:rPr dirty="0" sz="2650" spc="-220"/>
              <a:t>:</a:t>
            </a:r>
            <a:r>
              <a:rPr dirty="0" sz="2650" spc="-260"/>
              <a:t> </a:t>
            </a:r>
            <a:r>
              <a:rPr dirty="0" spc="-195"/>
              <a:t>Attrition</a:t>
            </a:r>
            <a:r>
              <a:rPr dirty="0" spc="-295"/>
              <a:t> </a:t>
            </a:r>
            <a:r>
              <a:rPr dirty="0" spc="-204"/>
              <a:t>aligns</a:t>
            </a:r>
            <a:r>
              <a:rPr dirty="0" spc="-325"/>
              <a:t> </a:t>
            </a:r>
            <a:r>
              <a:rPr dirty="0" spc="-155"/>
              <a:t>with</a:t>
            </a:r>
            <a:r>
              <a:rPr dirty="0" spc="-285"/>
              <a:t> </a:t>
            </a:r>
            <a:r>
              <a:rPr dirty="0" spc="-200"/>
              <a:t>industry</a:t>
            </a:r>
            <a:r>
              <a:rPr dirty="0" spc="-305"/>
              <a:t> </a:t>
            </a:r>
            <a:r>
              <a:rPr dirty="0" spc="-145"/>
              <a:t>norms</a:t>
            </a:r>
            <a:endParaRPr sz="2650"/>
          </a:p>
          <a:p>
            <a:pPr marL="12700">
              <a:lnSpc>
                <a:spcPts val="3175"/>
              </a:lnSpc>
            </a:pPr>
            <a:r>
              <a:rPr dirty="0" sz="2650" spc="-145"/>
              <a:t>(16.1%),</a:t>
            </a:r>
            <a:r>
              <a:rPr dirty="0" sz="2650" spc="-235"/>
              <a:t> </a:t>
            </a:r>
            <a:r>
              <a:rPr dirty="0" spc="-220"/>
              <a:t>providing</a:t>
            </a:r>
            <a:r>
              <a:rPr dirty="0" spc="-335"/>
              <a:t> </a:t>
            </a:r>
            <a:r>
              <a:rPr dirty="0" spc="-25"/>
              <a:t>a</a:t>
            </a:r>
            <a:r>
              <a:rPr dirty="0" spc="-330"/>
              <a:t> </a:t>
            </a:r>
            <a:r>
              <a:rPr dirty="0" spc="-185"/>
              <a:t>stable</a:t>
            </a:r>
            <a:r>
              <a:rPr dirty="0" spc="-295"/>
              <a:t> </a:t>
            </a:r>
            <a:r>
              <a:rPr dirty="0" spc="-204"/>
              <a:t>control</a:t>
            </a:r>
            <a:r>
              <a:rPr dirty="0" spc="-330"/>
              <a:t> </a:t>
            </a:r>
            <a:r>
              <a:rPr dirty="0" spc="-10"/>
              <a:t>group</a:t>
            </a:r>
            <a:r>
              <a:rPr dirty="0" sz="2650" spc="-10"/>
              <a:t>.</a:t>
            </a:r>
            <a:endParaRPr sz="2650"/>
          </a:p>
        </p:txBody>
      </p:sp>
      <p:sp>
        <p:nvSpPr>
          <p:cNvPr id="3" name="object 3" descr=""/>
          <p:cNvSpPr/>
          <p:nvPr/>
        </p:nvSpPr>
        <p:spPr>
          <a:xfrm>
            <a:off x="571500" y="1485900"/>
            <a:ext cx="1952625" cy="866775"/>
          </a:xfrm>
          <a:custGeom>
            <a:avLst/>
            <a:gdLst/>
            <a:ahLst/>
            <a:cxnLst/>
            <a:rect l="l" t="t" r="r" b="b"/>
            <a:pathLst>
              <a:path w="1952625" h="866775">
                <a:moveTo>
                  <a:pt x="1881428" y="0"/>
                </a:moveTo>
                <a:lnTo>
                  <a:pt x="71195" y="0"/>
                </a:lnTo>
                <a:lnTo>
                  <a:pt x="51660" y="3886"/>
                </a:lnTo>
                <a:lnTo>
                  <a:pt x="15620" y="29705"/>
                </a:lnTo>
                <a:lnTo>
                  <a:pt x="0" y="71196"/>
                </a:lnTo>
                <a:lnTo>
                  <a:pt x="0" y="795578"/>
                </a:lnTo>
                <a:lnTo>
                  <a:pt x="3884" y="815111"/>
                </a:lnTo>
                <a:lnTo>
                  <a:pt x="29704" y="851153"/>
                </a:lnTo>
                <a:lnTo>
                  <a:pt x="66240" y="866292"/>
                </a:lnTo>
                <a:lnTo>
                  <a:pt x="71195" y="866775"/>
                </a:lnTo>
                <a:lnTo>
                  <a:pt x="1881428" y="866775"/>
                </a:lnTo>
                <a:lnTo>
                  <a:pt x="1886381" y="866292"/>
                </a:lnTo>
                <a:lnTo>
                  <a:pt x="1900961" y="862888"/>
                </a:lnTo>
                <a:lnTo>
                  <a:pt x="1937004" y="837069"/>
                </a:lnTo>
                <a:lnTo>
                  <a:pt x="1952625" y="795578"/>
                </a:lnTo>
                <a:lnTo>
                  <a:pt x="1952625" y="71196"/>
                </a:lnTo>
                <a:lnTo>
                  <a:pt x="1948738" y="51663"/>
                </a:lnTo>
                <a:lnTo>
                  <a:pt x="1922919" y="15621"/>
                </a:lnTo>
                <a:lnTo>
                  <a:pt x="1881428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73099" y="1555305"/>
            <a:ext cx="1374775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100"/>
              </a:spcBef>
            </a:pPr>
            <a:r>
              <a:rPr dirty="0" sz="950" spc="-45" b="1">
                <a:solidFill>
                  <a:srgbClr val="64728B"/>
                </a:solidFill>
                <a:latin typeface="Arial"/>
                <a:cs typeface="Arial"/>
              </a:rPr>
              <a:t>HISTORICAL</a:t>
            </a:r>
            <a:r>
              <a:rPr dirty="0" sz="950" spc="-1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4728B"/>
                </a:solidFill>
                <a:latin typeface="Arial"/>
                <a:cs typeface="Arial"/>
              </a:rPr>
              <a:t>ATTRITION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2925"/>
              </a:lnSpc>
            </a:pPr>
            <a:r>
              <a:rPr dirty="0" sz="2650" spc="-60">
                <a:solidFill>
                  <a:srgbClr val="0D1728"/>
                </a:solidFill>
                <a:latin typeface="Courier New"/>
                <a:cs typeface="Courier New"/>
              </a:rPr>
              <a:t>16.1</a:t>
            </a:r>
            <a:r>
              <a:rPr dirty="0" sz="2300" spc="-60">
                <a:solidFill>
                  <a:srgbClr val="0D1728"/>
                </a:solidFill>
                <a:latin typeface="Trebuchet MS"/>
                <a:cs typeface="Trebuchet MS"/>
              </a:rPr>
              <a:t>%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-10">
                <a:solidFill>
                  <a:srgbClr val="64728B"/>
                </a:solidFill>
                <a:latin typeface="Arial"/>
                <a:cs typeface="Arial"/>
              </a:rPr>
              <a:t>Industry</a:t>
            </a:r>
            <a:r>
              <a:rPr dirty="0" sz="10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64728B"/>
                </a:solidFill>
                <a:latin typeface="Arial"/>
                <a:cs typeface="Arial"/>
              </a:rPr>
              <a:t>Avg:</a:t>
            </a:r>
            <a:r>
              <a:rPr dirty="0" sz="100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64728B"/>
                </a:solidFill>
                <a:latin typeface="Arial"/>
                <a:cs typeface="Arial"/>
              </a:rPr>
              <a:t>~15%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667000" y="1485900"/>
            <a:ext cx="1962150" cy="866775"/>
          </a:xfrm>
          <a:custGeom>
            <a:avLst/>
            <a:gdLst/>
            <a:ahLst/>
            <a:cxnLst/>
            <a:rect l="l" t="t" r="r" b="b"/>
            <a:pathLst>
              <a:path w="1962150" h="866775">
                <a:moveTo>
                  <a:pt x="1890953" y="0"/>
                </a:moveTo>
                <a:lnTo>
                  <a:pt x="71198" y="0"/>
                </a:lnTo>
                <a:lnTo>
                  <a:pt x="51662" y="3886"/>
                </a:lnTo>
                <a:lnTo>
                  <a:pt x="15619" y="29705"/>
                </a:lnTo>
                <a:lnTo>
                  <a:pt x="0" y="71196"/>
                </a:lnTo>
                <a:lnTo>
                  <a:pt x="0" y="795578"/>
                </a:lnTo>
                <a:lnTo>
                  <a:pt x="3885" y="815111"/>
                </a:lnTo>
                <a:lnTo>
                  <a:pt x="29707" y="851153"/>
                </a:lnTo>
                <a:lnTo>
                  <a:pt x="66235" y="866292"/>
                </a:lnTo>
                <a:lnTo>
                  <a:pt x="71198" y="866775"/>
                </a:lnTo>
                <a:lnTo>
                  <a:pt x="1890953" y="866775"/>
                </a:lnTo>
                <a:lnTo>
                  <a:pt x="1895906" y="866292"/>
                </a:lnTo>
                <a:lnTo>
                  <a:pt x="1910486" y="862888"/>
                </a:lnTo>
                <a:lnTo>
                  <a:pt x="1946529" y="837069"/>
                </a:lnTo>
                <a:lnTo>
                  <a:pt x="1962150" y="795578"/>
                </a:lnTo>
                <a:lnTo>
                  <a:pt x="1962150" y="71196"/>
                </a:lnTo>
                <a:lnTo>
                  <a:pt x="1958263" y="51663"/>
                </a:lnTo>
                <a:lnTo>
                  <a:pt x="1932444" y="15621"/>
                </a:lnTo>
                <a:lnTo>
                  <a:pt x="1890953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2771279" y="1555305"/>
            <a:ext cx="1198880" cy="690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85"/>
              </a:lnSpc>
              <a:spcBef>
                <a:spcPts val="100"/>
              </a:spcBef>
            </a:pPr>
            <a:r>
              <a:rPr dirty="0" sz="950" spc="-50" b="1">
                <a:solidFill>
                  <a:srgbClr val="64728B"/>
                </a:solidFill>
                <a:latin typeface="Arial"/>
                <a:cs typeface="Arial"/>
              </a:rPr>
              <a:t>POPULATION</a:t>
            </a:r>
            <a:r>
              <a:rPr dirty="0" sz="950" spc="2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64728B"/>
                </a:solidFill>
                <a:latin typeface="Arial"/>
                <a:cs typeface="Arial"/>
              </a:rPr>
              <a:t>SCOPE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2925"/>
              </a:lnSpc>
            </a:pPr>
            <a:r>
              <a:rPr dirty="0" sz="2650" spc="-290">
                <a:solidFill>
                  <a:srgbClr val="0D1728"/>
                </a:solidFill>
                <a:latin typeface="Courier New"/>
                <a:cs typeface="Courier New"/>
              </a:rPr>
              <a:t>1,470</a:t>
            </a:r>
            <a:endParaRPr sz="2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-45">
                <a:solidFill>
                  <a:srgbClr val="64728B"/>
                </a:solidFill>
                <a:latin typeface="Arial"/>
                <a:cs typeface="Arial"/>
              </a:rPr>
              <a:t>Full-</a:t>
            </a:r>
            <a:r>
              <a:rPr dirty="0" sz="1000" spc="-20">
                <a:solidFill>
                  <a:srgbClr val="64728B"/>
                </a:solidFill>
                <a:latin typeface="Arial"/>
                <a:cs typeface="Arial"/>
              </a:rPr>
              <a:t>Time</a:t>
            </a:r>
            <a:r>
              <a:rPr dirty="0" sz="100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64728B"/>
                </a:solidFill>
                <a:latin typeface="Arial"/>
                <a:cs typeface="Arial"/>
              </a:rPr>
              <a:t>Employees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71500" y="2543175"/>
            <a:ext cx="1581150" cy="295275"/>
          </a:xfrm>
          <a:custGeom>
            <a:avLst/>
            <a:gdLst/>
            <a:ahLst/>
            <a:cxnLst/>
            <a:rect l="l" t="t" r="r" b="b"/>
            <a:pathLst>
              <a:path w="1581150" h="295275">
                <a:moveTo>
                  <a:pt x="1548091" y="0"/>
                </a:moveTo>
                <a:lnTo>
                  <a:pt x="33046" y="0"/>
                </a:lnTo>
                <a:lnTo>
                  <a:pt x="28186" y="965"/>
                </a:lnTo>
                <a:lnTo>
                  <a:pt x="0" y="33045"/>
                </a:lnTo>
                <a:lnTo>
                  <a:pt x="0" y="262216"/>
                </a:lnTo>
                <a:lnTo>
                  <a:pt x="965" y="267093"/>
                </a:lnTo>
                <a:lnTo>
                  <a:pt x="28186" y="294297"/>
                </a:lnTo>
                <a:lnTo>
                  <a:pt x="33046" y="295275"/>
                </a:lnTo>
                <a:lnTo>
                  <a:pt x="1548091" y="295275"/>
                </a:lnTo>
                <a:lnTo>
                  <a:pt x="1552968" y="294297"/>
                </a:lnTo>
                <a:lnTo>
                  <a:pt x="1581150" y="262216"/>
                </a:lnTo>
                <a:lnTo>
                  <a:pt x="1581150" y="33045"/>
                </a:lnTo>
                <a:lnTo>
                  <a:pt x="1580172" y="28181"/>
                </a:lnTo>
                <a:lnTo>
                  <a:pt x="1548091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34999" y="2597378"/>
            <a:ext cx="10966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60" b="1">
                <a:solidFill>
                  <a:srgbClr val="0D1728"/>
                </a:solidFill>
                <a:latin typeface="Arial"/>
                <a:cs typeface="Arial"/>
              </a:rPr>
              <a:t>DATA</a:t>
            </a:r>
            <a:r>
              <a:rPr dirty="0" sz="950" spc="-9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950" spc="-20" b="1">
                <a:solidFill>
                  <a:srgbClr val="0D1728"/>
                </a:solidFill>
                <a:latin typeface="Arial"/>
                <a:cs typeface="Arial"/>
              </a:rPr>
              <a:t>DIMENSIONS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47900" y="2543175"/>
            <a:ext cx="2381250" cy="295275"/>
          </a:xfrm>
          <a:custGeom>
            <a:avLst/>
            <a:gdLst/>
            <a:ahLst/>
            <a:cxnLst/>
            <a:rect l="l" t="t" r="r" b="b"/>
            <a:pathLst>
              <a:path w="2381250" h="295275">
                <a:moveTo>
                  <a:pt x="2348191" y="0"/>
                </a:moveTo>
                <a:lnTo>
                  <a:pt x="33050" y="0"/>
                </a:lnTo>
                <a:lnTo>
                  <a:pt x="28183" y="965"/>
                </a:lnTo>
                <a:lnTo>
                  <a:pt x="0" y="33045"/>
                </a:lnTo>
                <a:lnTo>
                  <a:pt x="0" y="262216"/>
                </a:lnTo>
                <a:lnTo>
                  <a:pt x="961" y="267093"/>
                </a:lnTo>
                <a:lnTo>
                  <a:pt x="28183" y="294297"/>
                </a:lnTo>
                <a:lnTo>
                  <a:pt x="33050" y="295275"/>
                </a:lnTo>
                <a:lnTo>
                  <a:pt x="2348191" y="295275"/>
                </a:lnTo>
                <a:lnTo>
                  <a:pt x="2353068" y="294297"/>
                </a:lnTo>
                <a:lnTo>
                  <a:pt x="2381250" y="262216"/>
                </a:lnTo>
                <a:lnTo>
                  <a:pt x="2381250" y="33045"/>
                </a:lnTo>
                <a:lnTo>
                  <a:pt x="2380272" y="28181"/>
                </a:lnTo>
                <a:lnTo>
                  <a:pt x="2348191" y="0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313482" y="2597378"/>
            <a:ext cx="123698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70" b="1">
                <a:solidFill>
                  <a:srgbClr val="0D1728"/>
                </a:solidFill>
                <a:latin typeface="Arial"/>
                <a:cs typeface="Arial"/>
              </a:rPr>
              <a:t>FEATURES</a:t>
            </a:r>
            <a:r>
              <a:rPr dirty="0" sz="950" spc="-25" b="1">
                <a:solidFill>
                  <a:srgbClr val="0D1728"/>
                </a:solidFill>
                <a:latin typeface="Arial"/>
                <a:cs typeface="Arial"/>
              </a:rPr>
              <a:t> INCLUDED</a:t>
            </a:r>
            <a:endParaRPr sz="95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71500" y="3409950"/>
            <a:ext cx="1581150" cy="9525"/>
          </a:xfrm>
          <a:custGeom>
            <a:avLst/>
            <a:gdLst/>
            <a:ahLst/>
            <a:cxnLst/>
            <a:rect l="l" t="t" r="r" b="b"/>
            <a:pathLst>
              <a:path w="1581150" h="9525">
                <a:moveTo>
                  <a:pt x="1581150" y="0"/>
                </a:moveTo>
                <a:lnTo>
                  <a:pt x="0" y="0"/>
                </a:lnTo>
                <a:lnTo>
                  <a:pt x="0" y="9525"/>
                </a:lnTo>
                <a:lnTo>
                  <a:pt x="1581150" y="9525"/>
                </a:lnTo>
                <a:lnTo>
                  <a:pt x="15811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634999" y="2974670"/>
            <a:ext cx="9937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 b="1">
                <a:solidFill>
                  <a:srgbClr val="64728B"/>
                </a:solidFill>
                <a:latin typeface="Arial"/>
                <a:cs typeface="Arial"/>
              </a:rPr>
              <a:t>Demographics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47900" y="34099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  <a:lnTo>
                  <a:pt x="0" y="9525"/>
                </a:lnTo>
                <a:lnTo>
                  <a:pt x="2381250" y="9525"/>
                </a:lnTo>
                <a:lnTo>
                  <a:pt x="23812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2313482" y="2986938"/>
            <a:ext cx="2014220" cy="36322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25"/>
              </a:spcBef>
            </a:pP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Age,</a:t>
            </a:r>
            <a:r>
              <a:rPr dirty="0" sz="11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40">
                <a:solidFill>
                  <a:srgbClr val="64728B"/>
                </a:solidFill>
                <a:latin typeface="Arial"/>
                <a:cs typeface="Arial"/>
              </a:rPr>
              <a:t>Gender,</a:t>
            </a:r>
            <a:r>
              <a:rPr dirty="0" sz="11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64728B"/>
                </a:solidFill>
                <a:latin typeface="Arial"/>
                <a:cs typeface="Arial"/>
              </a:rPr>
              <a:t>Education,</a:t>
            </a:r>
            <a:r>
              <a:rPr dirty="0" sz="115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64728B"/>
                </a:solidFill>
                <a:latin typeface="Arial"/>
                <a:cs typeface="Arial"/>
              </a:rPr>
              <a:t>Marital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Status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571500" y="3990975"/>
            <a:ext cx="1581150" cy="9525"/>
          </a:xfrm>
          <a:custGeom>
            <a:avLst/>
            <a:gdLst/>
            <a:ahLst/>
            <a:cxnLst/>
            <a:rect l="l" t="t" r="r" b="b"/>
            <a:pathLst>
              <a:path w="1581150" h="9525">
                <a:moveTo>
                  <a:pt x="1581150" y="0"/>
                </a:moveTo>
                <a:lnTo>
                  <a:pt x="0" y="0"/>
                </a:lnTo>
                <a:lnTo>
                  <a:pt x="0" y="9525"/>
                </a:lnTo>
                <a:lnTo>
                  <a:pt x="1581150" y="9525"/>
                </a:lnTo>
                <a:lnTo>
                  <a:pt x="15811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34999" y="3555695"/>
            <a:ext cx="8661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60" b="1">
                <a:solidFill>
                  <a:srgbClr val="64728B"/>
                </a:solidFill>
                <a:latin typeface="Arial"/>
                <a:cs typeface="Arial"/>
              </a:rPr>
              <a:t>Engagement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247900" y="3990975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  <a:lnTo>
                  <a:pt x="0" y="9525"/>
                </a:lnTo>
                <a:lnTo>
                  <a:pt x="2381250" y="9525"/>
                </a:lnTo>
                <a:lnTo>
                  <a:pt x="23812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313482" y="3567963"/>
            <a:ext cx="2160270" cy="36322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225"/>
              </a:spcBef>
            </a:pP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JobSatisfaction,</a:t>
            </a:r>
            <a:r>
              <a:rPr dirty="0" sz="115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35">
                <a:solidFill>
                  <a:srgbClr val="64728B"/>
                </a:solidFill>
                <a:latin typeface="Arial"/>
                <a:cs typeface="Arial"/>
              </a:rPr>
              <a:t>WorkLifeBalance,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Involvement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571500" y="4572000"/>
            <a:ext cx="1581150" cy="9525"/>
          </a:xfrm>
          <a:custGeom>
            <a:avLst/>
            <a:gdLst/>
            <a:ahLst/>
            <a:cxnLst/>
            <a:rect l="l" t="t" r="r" b="b"/>
            <a:pathLst>
              <a:path w="1581150" h="9525">
                <a:moveTo>
                  <a:pt x="1581150" y="0"/>
                </a:moveTo>
                <a:lnTo>
                  <a:pt x="0" y="0"/>
                </a:lnTo>
                <a:lnTo>
                  <a:pt x="0" y="9525"/>
                </a:lnTo>
                <a:lnTo>
                  <a:pt x="1581150" y="9525"/>
                </a:lnTo>
                <a:lnTo>
                  <a:pt x="15811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34999" y="4136720"/>
            <a:ext cx="1041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80" b="1">
                <a:solidFill>
                  <a:srgbClr val="64728B"/>
                </a:solidFill>
                <a:latin typeface="Arial"/>
                <a:cs typeface="Arial"/>
              </a:rPr>
              <a:t>Comp</a:t>
            </a:r>
            <a:r>
              <a:rPr dirty="0" sz="1200" spc="-17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64728B"/>
                </a:solidFill>
                <a:latin typeface="Trebuchet MS"/>
                <a:cs typeface="Trebuchet MS"/>
              </a:rPr>
              <a:t>&amp;</a:t>
            </a:r>
            <a:r>
              <a:rPr dirty="0" sz="1150" spc="-140" b="1">
                <a:solidFill>
                  <a:srgbClr val="64728B"/>
                </a:solidFill>
                <a:latin typeface="Trebuchet MS"/>
                <a:cs typeface="Trebuchet MS"/>
              </a:rPr>
              <a:t> </a:t>
            </a:r>
            <a:r>
              <a:rPr dirty="0" sz="1200" spc="-40" b="1">
                <a:solidFill>
                  <a:srgbClr val="64728B"/>
                </a:solidFill>
                <a:latin typeface="Arial"/>
                <a:cs typeface="Arial"/>
              </a:rPr>
              <a:t>Tenure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2247900" y="4572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  <a:lnTo>
                  <a:pt x="0" y="9525"/>
                </a:lnTo>
                <a:lnTo>
                  <a:pt x="2381250" y="9525"/>
                </a:lnTo>
                <a:lnTo>
                  <a:pt x="2381250" y="0"/>
                </a:lnTo>
                <a:close/>
              </a:path>
            </a:pathLst>
          </a:custGeom>
          <a:solidFill>
            <a:srgbClr val="E1E6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2313482" y="4148594"/>
            <a:ext cx="2183765" cy="3619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080">
              <a:lnSpc>
                <a:spcPts val="1270"/>
              </a:lnSpc>
              <a:spcBef>
                <a:spcPts val="234"/>
              </a:spcBef>
            </a:pPr>
            <a:r>
              <a:rPr dirty="0" sz="1150" spc="-20">
                <a:solidFill>
                  <a:srgbClr val="64728B"/>
                </a:solidFill>
                <a:latin typeface="Arial"/>
                <a:cs typeface="Arial"/>
              </a:rPr>
              <a:t>MonthlyIncome,</a:t>
            </a:r>
            <a:r>
              <a:rPr dirty="0" sz="1150" spc="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64728B"/>
                </a:solidFill>
                <a:latin typeface="Arial"/>
                <a:cs typeface="Arial"/>
              </a:rPr>
              <a:t>YearsAtCompany,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StockOptionLevel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914900" y="1485900"/>
            <a:ext cx="3657600" cy="2371725"/>
            <a:chOff x="4914900" y="1485900"/>
            <a:chExt cx="3657600" cy="2371725"/>
          </a:xfrm>
        </p:grpSpPr>
        <p:sp>
          <p:nvSpPr>
            <p:cNvPr id="24" name="object 24" descr=""/>
            <p:cNvSpPr/>
            <p:nvPr/>
          </p:nvSpPr>
          <p:spPr>
            <a:xfrm>
              <a:off x="4933950" y="1485900"/>
              <a:ext cx="3638550" cy="2371725"/>
            </a:xfrm>
            <a:custGeom>
              <a:avLst/>
              <a:gdLst/>
              <a:ahLst/>
              <a:cxnLst/>
              <a:rect l="l" t="t" r="r" b="b"/>
              <a:pathLst>
                <a:path w="3638550" h="2371725">
                  <a:moveTo>
                    <a:pt x="3531755" y="0"/>
                  </a:moveTo>
                  <a:lnTo>
                    <a:pt x="88991" y="0"/>
                  </a:lnTo>
                  <a:lnTo>
                    <a:pt x="64578" y="5829"/>
                  </a:lnTo>
                  <a:lnTo>
                    <a:pt x="32317" y="28168"/>
                  </a:lnTo>
                  <a:lnTo>
                    <a:pt x="9639" y="63626"/>
                  </a:lnTo>
                  <a:lnTo>
                    <a:pt x="0" y="106794"/>
                  </a:lnTo>
                  <a:lnTo>
                    <a:pt x="0" y="2264930"/>
                  </a:lnTo>
                  <a:lnTo>
                    <a:pt x="12573" y="2314676"/>
                  </a:lnTo>
                  <a:lnTo>
                    <a:pt x="37127" y="2348293"/>
                  </a:lnTo>
                  <a:lnTo>
                    <a:pt x="82800" y="2370988"/>
                  </a:lnTo>
                  <a:lnTo>
                    <a:pt x="88991" y="2371725"/>
                  </a:lnTo>
                  <a:lnTo>
                    <a:pt x="3531755" y="2371725"/>
                  </a:lnTo>
                  <a:lnTo>
                    <a:pt x="3599764" y="2343556"/>
                  </a:lnTo>
                  <a:lnTo>
                    <a:pt x="3626980" y="2308098"/>
                  </a:lnTo>
                  <a:lnTo>
                    <a:pt x="3638550" y="2264930"/>
                  </a:lnTo>
                  <a:lnTo>
                    <a:pt x="3638550" y="106794"/>
                  </a:lnTo>
                  <a:lnTo>
                    <a:pt x="3632720" y="77495"/>
                  </a:lnTo>
                  <a:lnTo>
                    <a:pt x="3610368" y="38785"/>
                  </a:lnTo>
                  <a:lnTo>
                    <a:pt x="3574923" y="11569"/>
                  </a:lnTo>
                  <a:lnTo>
                    <a:pt x="3531755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14900" y="1485900"/>
              <a:ext cx="114300" cy="2371725"/>
            </a:xfrm>
            <a:custGeom>
              <a:avLst/>
              <a:gdLst/>
              <a:ahLst/>
              <a:cxnLst/>
              <a:rect l="l" t="t" r="r" b="b"/>
              <a:pathLst>
                <a:path w="114300" h="2371725">
                  <a:moveTo>
                    <a:pt x="97261" y="2368336"/>
                  </a:moveTo>
                  <a:lnTo>
                    <a:pt x="106787" y="2371191"/>
                  </a:lnTo>
                  <a:lnTo>
                    <a:pt x="114298" y="2371725"/>
                  </a:lnTo>
                  <a:lnTo>
                    <a:pt x="97261" y="2368336"/>
                  </a:lnTo>
                  <a:close/>
                </a:path>
                <a:path w="114300" h="2371725">
                  <a:moveTo>
                    <a:pt x="97888" y="3263"/>
                  </a:moveTo>
                  <a:lnTo>
                    <a:pt x="70560" y="8699"/>
                  </a:lnTo>
                  <a:lnTo>
                    <a:pt x="33465" y="33477"/>
                  </a:lnTo>
                  <a:lnTo>
                    <a:pt x="8685" y="70561"/>
                  </a:lnTo>
                  <a:lnTo>
                    <a:pt x="0" y="114300"/>
                  </a:lnTo>
                  <a:lnTo>
                    <a:pt x="0" y="2257412"/>
                  </a:lnTo>
                  <a:lnTo>
                    <a:pt x="8685" y="2301176"/>
                  </a:lnTo>
                  <a:lnTo>
                    <a:pt x="33465" y="2338247"/>
                  </a:lnTo>
                  <a:lnTo>
                    <a:pt x="70560" y="2363025"/>
                  </a:lnTo>
                  <a:lnTo>
                    <a:pt x="97261" y="2368336"/>
                  </a:lnTo>
                  <a:lnTo>
                    <a:pt x="92211" y="2366822"/>
                  </a:lnTo>
                  <a:lnTo>
                    <a:pt x="60410" y="2338247"/>
                  </a:lnTo>
                  <a:lnTo>
                    <a:pt x="43890" y="2301176"/>
                  </a:lnTo>
                  <a:lnTo>
                    <a:pt x="38098" y="2257412"/>
                  </a:lnTo>
                  <a:lnTo>
                    <a:pt x="38098" y="114300"/>
                  </a:lnTo>
                  <a:lnTo>
                    <a:pt x="38459" y="103035"/>
                  </a:lnTo>
                  <a:lnTo>
                    <a:pt x="47101" y="60363"/>
                  </a:lnTo>
                  <a:lnTo>
                    <a:pt x="65982" y="25895"/>
                  </a:lnTo>
                  <a:lnTo>
                    <a:pt x="97888" y="3263"/>
                  </a:lnTo>
                  <a:close/>
                </a:path>
                <a:path w="114300" h="2371725">
                  <a:moveTo>
                    <a:pt x="114298" y="0"/>
                  </a:moveTo>
                  <a:lnTo>
                    <a:pt x="106787" y="546"/>
                  </a:lnTo>
                  <a:lnTo>
                    <a:pt x="99428" y="2171"/>
                  </a:lnTo>
                  <a:lnTo>
                    <a:pt x="97888" y="3263"/>
                  </a:lnTo>
                  <a:lnTo>
                    <a:pt x="114298" y="0"/>
                  </a:lnTo>
                  <a:close/>
                </a:path>
              </a:pathLst>
            </a:custGeom>
            <a:solidFill>
              <a:srgbClr val="4D45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143500" y="2762250"/>
              <a:ext cx="1504950" cy="276225"/>
            </a:xfrm>
            <a:custGeom>
              <a:avLst/>
              <a:gdLst/>
              <a:ahLst/>
              <a:cxnLst/>
              <a:rect l="l" t="t" r="r" b="b"/>
              <a:pathLst>
                <a:path w="1504950" h="276225">
                  <a:moveTo>
                    <a:pt x="1471891" y="0"/>
                  </a:moveTo>
                  <a:lnTo>
                    <a:pt x="33050" y="0"/>
                  </a:lnTo>
                  <a:lnTo>
                    <a:pt x="28183" y="965"/>
                  </a:lnTo>
                  <a:lnTo>
                    <a:pt x="0" y="33045"/>
                  </a:lnTo>
                  <a:lnTo>
                    <a:pt x="0" y="243166"/>
                  </a:lnTo>
                  <a:lnTo>
                    <a:pt x="961" y="248043"/>
                  </a:lnTo>
                  <a:lnTo>
                    <a:pt x="28183" y="275247"/>
                  </a:lnTo>
                  <a:lnTo>
                    <a:pt x="33050" y="276225"/>
                  </a:lnTo>
                  <a:lnTo>
                    <a:pt x="1471891" y="276225"/>
                  </a:lnTo>
                  <a:lnTo>
                    <a:pt x="1476768" y="275247"/>
                  </a:lnTo>
                  <a:lnTo>
                    <a:pt x="1504950" y="243166"/>
                  </a:lnTo>
                  <a:lnTo>
                    <a:pt x="1504950" y="33045"/>
                  </a:lnTo>
                  <a:lnTo>
                    <a:pt x="1503972" y="28181"/>
                  </a:lnTo>
                  <a:lnTo>
                    <a:pt x="1471891" y="0"/>
                  </a:lnTo>
                  <a:close/>
                </a:path>
              </a:pathLst>
            </a:custGeom>
            <a:solidFill>
              <a:srgbClr val="E1E6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5126612" y="1557826"/>
            <a:ext cx="3225165" cy="213106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500" spc="-85" b="1">
                <a:solidFill>
                  <a:srgbClr val="0D1728"/>
                </a:solidFill>
                <a:latin typeface="Arial"/>
                <a:cs typeface="Arial"/>
              </a:rPr>
              <a:t>Business</a:t>
            </a:r>
            <a:r>
              <a:rPr dirty="0" sz="1500" spc="-8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D1728"/>
                </a:solidFill>
                <a:latin typeface="Arial"/>
                <a:cs typeface="Arial"/>
              </a:rPr>
              <a:t>Objective</a:t>
            </a:r>
            <a:endParaRPr sz="1500">
              <a:latin typeface="Arial"/>
              <a:cs typeface="Arial"/>
            </a:endParaRPr>
          </a:p>
          <a:p>
            <a:pPr marL="12700" marR="32384">
              <a:lnSpc>
                <a:spcPct val="120000"/>
              </a:lnSpc>
              <a:spcBef>
                <a:spcPts val="180"/>
              </a:spcBef>
            </a:pPr>
            <a:r>
              <a:rPr dirty="0" sz="1250" spc="-55">
                <a:solidFill>
                  <a:srgbClr val="64728B"/>
                </a:solidFill>
                <a:latin typeface="Arial"/>
                <a:cs typeface="Arial"/>
              </a:rPr>
              <a:t>Can</a:t>
            </a:r>
            <a:r>
              <a:rPr dirty="0" sz="125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we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identify</a:t>
            </a:r>
            <a:r>
              <a:rPr dirty="0" sz="1250" spc="1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50" b="1">
                <a:solidFill>
                  <a:srgbClr val="64728B"/>
                </a:solidFill>
                <a:latin typeface="Arial"/>
                <a:cs typeface="Arial"/>
              </a:rPr>
              <a:t>preventable</a:t>
            </a:r>
            <a:r>
              <a:rPr dirty="0" sz="1250" spc="-13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40" b="1">
                <a:solidFill>
                  <a:srgbClr val="64728B"/>
                </a:solidFill>
                <a:latin typeface="Arial"/>
                <a:cs typeface="Arial"/>
              </a:rPr>
              <a:t>turnover</a:t>
            </a:r>
            <a:r>
              <a:rPr dirty="0" sz="1250" spc="-60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before</a:t>
            </a:r>
            <a:r>
              <a:rPr dirty="0" sz="125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it impacts</a:t>
            </a:r>
            <a:r>
              <a:rPr dirty="0" sz="125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25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bottom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line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?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50" spc="-55" b="1">
                <a:solidFill>
                  <a:srgbClr val="64728B"/>
                </a:solidFill>
                <a:latin typeface="Arial"/>
                <a:cs typeface="Arial"/>
              </a:rPr>
              <a:t>TARGET</a:t>
            </a:r>
            <a:r>
              <a:rPr dirty="0" sz="950" spc="-60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4728B"/>
                </a:solidFill>
                <a:latin typeface="Arial"/>
                <a:cs typeface="Arial"/>
              </a:rPr>
              <a:t>VARIABLE</a:t>
            </a:r>
            <a:endParaRPr sz="950">
              <a:latin typeface="Arial"/>
              <a:cs typeface="Arial"/>
            </a:endParaRPr>
          </a:p>
          <a:p>
            <a:pPr marL="107950">
              <a:lnSpc>
                <a:spcPct val="100000"/>
              </a:lnSpc>
              <a:spcBef>
                <a:spcPts val="745"/>
              </a:spcBef>
            </a:pPr>
            <a:r>
              <a:rPr dirty="0" sz="1050" spc="-35">
                <a:solidFill>
                  <a:srgbClr val="4D45E4"/>
                </a:solidFill>
                <a:latin typeface="Lucida Sans"/>
                <a:cs typeface="Lucida Sans"/>
              </a:rPr>
              <a:t>Attrition</a:t>
            </a:r>
            <a:r>
              <a:rPr dirty="0" sz="1050" spc="-25">
                <a:solidFill>
                  <a:srgbClr val="4D45E4"/>
                </a:solidFill>
                <a:latin typeface="Lucida Sans"/>
                <a:cs typeface="Lucida Sans"/>
              </a:rPr>
              <a:t> </a:t>
            </a:r>
            <a:r>
              <a:rPr dirty="0" sz="1050" spc="-75">
                <a:solidFill>
                  <a:srgbClr val="4D45E4"/>
                </a:solidFill>
                <a:latin typeface="Lucida Sans"/>
                <a:cs typeface="Lucida Sans"/>
              </a:rPr>
              <a:t>==</a:t>
            </a:r>
            <a:r>
              <a:rPr dirty="0" sz="1050" spc="-20">
                <a:solidFill>
                  <a:srgbClr val="4D45E4"/>
                </a:solidFill>
                <a:latin typeface="Lucida Sans"/>
                <a:cs typeface="Lucida Sans"/>
              </a:rPr>
              <a:t> "Yes"</a:t>
            </a:r>
            <a:endParaRPr sz="10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950" spc="-55" b="1">
                <a:solidFill>
                  <a:srgbClr val="64728B"/>
                </a:solidFill>
                <a:latin typeface="Arial"/>
                <a:cs typeface="Arial"/>
              </a:rPr>
              <a:t>SUCCESS</a:t>
            </a:r>
            <a:r>
              <a:rPr dirty="0" sz="950" spc="-3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64728B"/>
                </a:solidFill>
                <a:latin typeface="Arial"/>
                <a:cs typeface="Arial"/>
              </a:rPr>
              <a:t>CRITERIA</a:t>
            </a:r>
            <a:endParaRPr sz="950">
              <a:latin typeface="Arial"/>
              <a:cs typeface="Arial"/>
            </a:endParaRPr>
          </a:p>
          <a:p>
            <a:pPr marL="124460" indent="-111760">
              <a:lnSpc>
                <a:spcPts val="1355"/>
              </a:lnSpc>
              <a:spcBef>
                <a:spcPts val="490"/>
              </a:spcBef>
              <a:buChar char="•"/>
              <a:tabLst>
                <a:tab pos="124460" algn="l"/>
              </a:tabLst>
            </a:pP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Identify</a:t>
            </a:r>
            <a:r>
              <a:rPr dirty="0" sz="1150" spc="-20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&gt;70%</a:t>
            </a:r>
            <a:r>
              <a:rPr dirty="0" sz="1150" spc="-1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of</a:t>
            </a:r>
            <a:r>
              <a:rPr dirty="0" sz="1150" spc="-20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0D1728"/>
                </a:solidFill>
                <a:latin typeface="Arial"/>
                <a:cs typeface="Arial"/>
              </a:rPr>
              <a:t>at-</a:t>
            </a: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risk</a:t>
            </a:r>
            <a:r>
              <a:rPr dirty="0" sz="1150" spc="-1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0D1728"/>
                </a:solidFill>
                <a:latin typeface="Arial"/>
                <a:cs typeface="Arial"/>
              </a:rPr>
              <a:t>employees</a:t>
            </a:r>
            <a:endParaRPr sz="1150">
              <a:latin typeface="Arial"/>
              <a:cs typeface="Arial"/>
            </a:endParaRPr>
          </a:p>
          <a:p>
            <a:pPr marL="124460" indent="-111760">
              <a:lnSpc>
                <a:spcPts val="1355"/>
              </a:lnSpc>
              <a:buChar char="•"/>
              <a:tabLst>
                <a:tab pos="124460" algn="l"/>
              </a:tabLst>
            </a:pPr>
            <a:r>
              <a:rPr dirty="0" sz="1150" spc="-20">
                <a:solidFill>
                  <a:srgbClr val="0D1728"/>
                </a:solidFill>
                <a:latin typeface="Arial"/>
                <a:cs typeface="Arial"/>
              </a:rPr>
              <a:t>Isolate</a:t>
            </a:r>
            <a:r>
              <a:rPr dirty="0" sz="1150" spc="-5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0D1728"/>
                </a:solidFill>
                <a:latin typeface="Arial"/>
                <a:cs typeface="Arial"/>
              </a:rPr>
              <a:t>actionable</a:t>
            </a:r>
            <a:r>
              <a:rPr dirty="0" sz="1150" spc="-4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drivers</a:t>
            </a:r>
            <a:r>
              <a:rPr dirty="0" sz="1150" spc="-2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0D1728"/>
                </a:solidFill>
                <a:latin typeface="Arial"/>
                <a:cs typeface="Arial"/>
              </a:rPr>
              <a:t>(e.g.,</a:t>
            </a:r>
            <a:r>
              <a:rPr dirty="0" sz="1150" spc="-3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0D1728"/>
                </a:solidFill>
                <a:latin typeface="Arial"/>
                <a:cs typeface="Arial"/>
              </a:rPr>
              <a:t>Overtime</a:t>
            </a:r>
            <a:r>
              <a:rPr dirty="0" sz="1150" spc="-4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D1728"/>
                </a:solidFill>
                <a:latin typeface="Arial"/>
                <a:cs typeface="Arial"/>
              </a:rPr>
              <a:t>vs.</a:t>
            </a:r>
            <a:r>
              <a:rPr dirty="0" sz="1150" spc="-25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0D1728"/>
                </a:solidFill>
                <a:latin typeface="Arial"/>
                <a:cs typeface="Arial"/>
              </a:rPr>
              <a:t>Pay)</a:t>
            </a:r>
            <a:endParaRPr sz="11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58799" y="4627117"/>
            <a:ext cx="3772535" cy="33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45"/>
              </a:lnSpc>
              <a:spcBef>
                <a:spcPts val="100"/>
              </a:spcBef>
            </a:pPr>
            <a:r>
              <a:rPr dirty="0" sz="950" spc="-10" b="1">
                <a:solidFill>
                  <a:srgbClr val="93A1B8"/>
                </a:solidFill>
                <a:latin typeface="Arial"/>
                <a:cs typeface="Arial"/>
              </a:rPr>
              <a:t>Data</a:t>
            </a:r>
            <a:r>
              <a:rPr dirty="0" sz="950" spc="-70" b="1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950" spc="-25" b="1">
                <a:solidFill>
                  <a:srgbClr val="93A1B8"/>
                </a:solidFill>
                <a:latin typeface="Arial"/>
                <a:cs typeface="Arial"/>
              </a:rPr>
              <a:t>Source</a:t>
            </a:r>
            <a:r>
              <a:rPr dirty="0" sz="1050" spc="-25" b="1">
                <a:solidFill>
                  <a:srgbClr val="93A1B8"/>
                </a:solidFill>
                <a:latin typeface="Georgia"/>
                <a:cs typeface="Georgia"/>
              </a:rPr>
              <a:t>:</a:t>
            </a:r>
            <a:r>
              <a:rPr dirty="0" sz="1050" spc="-40" b="1">
                <a:solidFill>
                  <a:srgbClr val="93A1B8"/>
                </a:solidFill>
                <a:latin typeface="Georgia"/>
                <a:cs typeface="Georgia"/>
              </a:rPr>
              <a:t> </a:t>
            </a:r>
            <a:r>
              <a:rPr dirty="0" sz="1000" spc="-40">
                <a:solidFill>
                  <a:srgbClr val="93A1B8"/>
                </a:solidFill>
                <a:latin typeface="Arial"/>
                <a:cs typeface="Arial"/>
              </a:rPr>
              <a:t>IBM</a:t>
            </a:r>
            <a:r>
              <a:rPr dirty="0" sz="1000" spc="-5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70">
                <a:solidFill>
                  <a:srgbClr val="93A1B8"/>
                </a:solidFill>
                <a:latin typeface="Arial"/>
                <a:cs typeface="Arial"/>
              </a:rPr>
              <a:t>HR</a:t>
            </a:r>
            <a:r>
              <a:rPr dirty="0" sz="1000" spc="-114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Analytics </a:t>
            </a:r>
            <a:r>
              <a:rPr dirty="0" sz="950" spc="-10">
                <a:solidFill>
                  <a:srgbClr val="93A1B8"/>
                </a:solidFill>
                <a:latin typeface="Arial"/>
                <a:cs typeface="Arial"/>
              </a:rPr>
              <a:t>(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Synthetic</a:t>
            </a:r>
            <a:r>
              <a:rPr dirty="0" sz="950" spc="-10">
                <a:solidFill>
                  <a:srgbClr val="93A1B8"/>
                </a:solidFill>
                <a:latin typeface="Arial"/>
                <a:cs typeface="Arial"/>
              </a:rPr>
              <a:t>)</a:t>
            </a:r>
            <a:r>
              <a:rPr dirty="0" sz="95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93A1B8"/>
                </a:solidFill>
                <a:latin typeface="Arial"/>
                <a:cs typeface="Arial"/>
              </a:rPr>
              <a:t>via</a:t>
            </a:r>
            <a:r>
              <a:rPr dirty="0" sz="1000" spc="-15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u="sng" sz="950" spc="-10">
                <a:solidFill>
                  <a:srgbClr val="4D45E4"/>
                </a:solidFill>
                <a:uFill>
                  <a:solidFill>
                    <a:srgbClr val="4D45E4"/>
                  </a:solidFill>
                </a:uFill>
                <a:latin typeface="Arial"/>
                <a:cs typeface="Arial"/>
                <a:hlinkClick r:id="rId2"/>
              </a:rPr>
              <a:t>Kaggle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85"/>
              </a:lnSpc>
            </a:pPr>
            <a:r>
              <a:rPr dirty="0" sz="1000">
                <a:solidFill>
                  <a:srgbClr val="93A1B8"/>
                </a:solidFill>
                <a:latin typeface="Arial"/>
                <a:cs typeface="Arial"/>
              </a:rPr>
              <a:t>Note</a:t>
            </a:r>
            <a:r>
              <a:rPr dirty="0" sz="950">
                <a:solidFill>
                  <a:srgbClr val="93A1B8"/>
                </a:solidFill>
                <a:latin typeface="Arial"/>
                <a:cs typeface="Arial"/>
              </a:rPr>
              <a:t>:</a:t>
            </a:r>
            <a:r>
              <a:rPr dirty="0" sz="950" spc="-2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93A1B8"/>
                </a:solidFill>
                <a:latin typeface="Arial"/>
                <a:cs typeface="Arial"/>
              </a:rPr>
              <a:t>Synthetic</a:t>
            </a:r>
            <a:r>
              <a:rPr dirty="0" sz="1000" spc="-4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93A1B8"/>
                </a:solidFill>
                <a:latin typeface="Arial"/>
                <a:cs typeface="Arial"/>
              </a:rPr>
              <a:t>dataset</a:t>
            </a:r>
            <a:r>
              <a:rPr dirty="0" sz="1000" spc="-3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used</a:t>
            </a:r>
            <a:r>
              <a:rPr dirty="0" sz="1000" spc="-4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93A1B8"/>
                </a:solidFill>
                <a:latin typeface="Arial"/>
                <a:cs typeface="Arial"/>
              </a:rPr>
              <a:t>for</a:t>
            </a:r>
            <a:r>
              <a:rPr dirty="0" sz="1000" spc="-15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93A1B8"/>
                </a:solidFill>
                <a:latin typeface="Arial"/>
                <a:cs typeface="Arial"/>
              </a:rPr>
              <a:t>blind</a:t>
            </a:r>
            <a:r>
              <a:rPr dirty="0" sz="1000" spc="-15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93A1B8"/>
                </a:solidFill>
                <a:latin typeface="Arial"/>
                <a:cs typeface="Arial"/>
              </a:rPr>
              <a:t>benchmarking</a:t>
            </a:r>
            <a:r>
              <a:rPr dirty="0" sz="950" spc="-20">
                <a:solidFill>
                  <a:srgbClr val="93A1B8"/>
                </a:solidFill>
                <a:latin typeface="Arial"/>
                <a:cs typeface="Arial"/>
              </a:rPr>
              <a:t>. </a:t>
            </a:r>
            <a:r>
              <a:rPr dirty="0" sz="1000">
                <a:solidFill>
                  <a:srgbClr val="93A1B8"/>
                </a:solidFill>
                <a:latin typeface="Arial"/>
                <a:cs typeface="Arial"/>
              </a:rPr>
              <a:t>No</a:t>
            </a:r>
            <a:r>
              <a:rPr dirty="0" sz="1000" spc="-35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40">
                <a:solidFill>
                  <a:srgbClr val="93A1B8"/>
                </a:solidFill>
                <a:latin typeface="Arial"/>
                <a:cs typeface="Arial"/>
              </a:rPr>
              <a:t>PII</a:t>
            </a:r>
            <a:r>
              <a:rPr dirty="0" sz="1000" spc="-6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involved</a:t>
            </a:r>
            <a:r>
              <a:rPr dirty="0" sz="950" spc="-10">
                <a:solidFill>
                  <a:srgbClr val="93A1B8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838146" y="4635182"/>
            <a:ext cx="1758314" cy="325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1180"/>
              </a:lnSpc>
              <a:spcBef>
                <a:spcPts val="100"/>
              </a:spcBef>
            </a:pPr>
            <a:r>
              <a:rPr dirty="0" sz="1000" spc="-40">
                <a:solidFill>
                  <a:srgbClr val="93A1B8"/>
                </a:solidFill>
                <a:latin typeface="Arial"/>
                <a:cs typeface="Arial"/>
              </a:rPr>
              <a:t>Data</a:t>
            </a:r>
            <a:r>
              <a:rPr dirty="0" sz="1000" spc="-5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93A1B8"/>
                </a:solidFill>
                <a:latin typeface="Arial"/>
                <a:cs typeface="Arial"/>
              </a:rPr>
              <a:t>Snapshot</a:t>
            </a:r>
            <a:r>
              <a:rPr dirty="0" sz="950" spc="-20">
                <a:solidFill>
                  <a:srgbClr val="93A1B8"/>
                </a:solidFill>
                <a:latin typeface="Arial"/>
                <a:cs typeface="Arial"/>
              </a:rPr>
              <a:t>:</a:t>
            </a:r>
            <a:r>
              <a:rPr dirty="0" sz="95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93A1B8"/>
                </a:solidFill>
                <a:latin typeface="Arial"/>
                <a:cs typeface="Arial"/>
              </a:rPr>
              <a:t>Fiscal</a:t>
            </a:r>
            <a:r>
              <a:rPr dirty="0" sz="1000" spc="-15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93A1B8"/>
                </a:solidFill>
                <a:latin typeface="Arial"/>
                <a:cs typeface="Arial"/>
              </a:rPr>
              <a:t>Year </a:t>
            </a:r>
            <a:r>
              <a:rPr dirty="0" sz="950" spc="-20">
                <a:solidFill>
                  <a:srgbClr val="93A1B8"/>
                </a:solidFill>
                <a:latin typeface="Arial"/>
                <a:cs typeface="Arial"/>
              </a:rPr>
              <a:t>2025</a:t>
            </a:r>
            <a:endParaRPr sz="950">
              <a:latin typeface="Arial"/>
              <a:cs typeface="Arial"/>
            </a:endParaRPr>
          </a:p>
          <a:p>
            <a:pPr algn="r" marR="6350">
              <a:lnSpc>
                <a:spcPts val="1180"/>
              </a:lnSpc>
            </a:pPr>
            <a:r>
              <a:rPr dirty="0" sz="1000" spc="-20">
                <a:solidFill>
                  <a:srgbClr val="93A1B8"/>
                </a:solidFill>
                <a:latin typeface="Arial"/>
                <a:cs typeface="Arial"/>
              </a:rPr>
              <a:t>Scope</a:t>
            </a:r>
            <a:r>
              <a:rPr dirty="0" sz="950" spc="-20">
                <a:solidFill>
                  <a:srgbClr val="93A1B8"/>
                </a:solidFill>
                <a:latin typeface="Arial"/>
                <a:cs typeface="Arial"/>
              </a:rPr>
              <a:t>:</a:t>
            </a:r>
            <a:r>
              <a:rPr dirty="0" sz="950" spc="-3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All</a:t>
            </a:r>
            <a:r>
              <a:rPr dirty="0" sz="1000" spc="-30">
                <a:solidFill>
                  <a:srgbClr val="93A1B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93A1B8"/>
                </a:solidFill>
                <a:latin typeface="Arial"/>
                <a:cs typeface="Arial"/>
              </a:rPr>
              <a:t>Regions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835" rIns="0" bIns="0" rtlCol="0" vert="horz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605"/>
              </a:spcBef>
            </a:pPr>
            <a:r>
              <a:rPr dirty="0" spc="-210"/>
              <a:t>Methodology</a:t>
            </a:r>
            <a:r>
              <a:rPr dirty="0" sz="2650" spc="-210"/>
              <a:t>:</a:t>
            </a:r>
            <a:r>
              <a:rPr dirty="0" sz="2650" spc="-265"/>
              <a:t> </a:t>
            </a:r>
            <a:r>
              <a:rPr dirty="0" spc="-210"/>
              <a:t>Moving</a:t>
            </a:r>
            <a:r>
              <a:rPr dirty="0" spc="-330"/>
              <a:t> </a:t>
            </a:r>
            <a:r>
              <a:rPr dirty="0" spc="-225"/>
              <a:t>beyond</a:t>
            </a:r>
            <a:r>
              <a:rPr dirty="0" spc="-350"/>
              <a:t> </a:t>
            </a:r>
            <a:r>
              <a:rPr dirty="0" spc="-204"/>
              <a:t>correlation</a:t>
            </a:r>
            <a:r>
              <a:rPr dirty="0" spc="-300"/>
              <a:t> </a:t>
            </a:r>
            <a:r>
              <a:rPr dirty="0" spc="-114"/>
              <a:t>to</a:t>
            </a:r>
            <a:r>
              <a:rPr dirty="0" spc="-300"/>
              <a:t> </a:t>
            </a:r>
            <a:r>
              <a:rPr dirty="0" spc="-120"/>
              <a:t>isolate </a:t>
            </a:r>
            <a:r>
              <a:rPr dirty="0" spc="-210"/>
              <a:t>causal</a:t>
            </a:r>
            <a:r>
              <a:rPr dirty="0" spc="-345"/>
              <a:t> </a:t>
            </a:r>
            <a:r>
              <a:rPr dirty="0" spc="-175"/>
              <a:t>risk</a:t>
            </a:r>
            <a:r>
              <a:rPr dirty="0" spc="-325"/>
              <a:t> </a:t>
            </a:r>
            <a:r>
              <a:rPr dirty="0" spc="-10"/>
              <a:t>drivers</a:t>
            </a:r>
            <a:r>
              <a:rPr dirty="0" sz="2650" spc="-10"/>
              <a:t>.</a:t>
            </a:r>
            <a:endParaRPr sz="2650"/>
          </a:p>
        </p:txBody>
      </p:sp>
      <p:sp>
        <p:nvSpPr>
          <p:cNvPr id="3" name="object 3" descr=""/>
          <p:cNvSpPr/>
          <p:nvPr/>
        </p:nvSpPr>
        <p:spPr>
          <a:xfrm>
            <a:off x="571500" y="1638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4631" y="0"/>
                </a:moveTo>
                <a:lnTo>
                  <a:pt x="99585" y="8928"/>
                </a:lnTo>
                <a:lnTo>
                  <a:pt x="60704" y="30010"/>
                </a:lnTo>
                <a:lnTo>
                  <a:pt x="29555" y="61620"/>
                </a:lnTo>
                <a:lnTo>
                  <a:pt x="8773" y="101091"/>
                </a:lnTo>
                <a:lnTo>
                  <a:pt x="179" y="144919"/>
                </a:lnTo>
                <a:lnTo>
                  <a:pt x="0" y="152400"/>
                </a:lnTo>
                <a:lnTo>
                  <a:pt x="720" y="167335"/>
                </a:lnTo>
                <a:lnTo>
                  <a:pt x="11430" y="210692"/>
                </a:lnTo>
                <a:lnTo>
                  <a:pt x="34084" y="249072"/>
                </a:lnTo>
                <a:lnTo>
                  <a:pt x="66737" y="279082"/>
                </a:lnTo>
                <a:lnTo>
                  <a:pt x="106574" y="298221"/>
                </a:lnTo>
                <a:lnTo>
                  <a:pt x="150167" y="304800"/>
                </a:lnTo>
                <a:lnTo>
                  <a:pt x="162010" y="304622"/>
                </a:lnTo>
                <a:lnTo>
                  <a:pt x="205214" y="295871"/>
                </a:lnTo>
                <a:lnTo>
                  <a:pt x="244094" y="274789"/>
                </a:lnTo>
                <a:lnTo>
                  <a:pt x="275242" y="243179"/>
                </a:lnTo>
                <a:lnTo>
                  <a:pt x="296024" y="203708"/>
                </a:lnTo>
                <a:lnTo>
                  <a:pt x="304618" y="159880"/>
                </a:lnTo>
                <a:lnTo>
                  <a:pt x="304800" y="152400"/>
                </a:lnTo>
                <a:lnTo>
                  <a:pt x="304618" y="144919"/>
                </a:lnTo>
                <a:lnTo>
                  <a:pt x="296024" y="101091"/>
                </a:lnTo>
                <a:lnTo>
                  <a:pt x="275242" y="61620"/>
                </a:lnTo>
                <a:lnTo>
                  <a:pt x="244094" y="30010"/>
                </a:lnTo>
                <a:lnTo>
                  <a:pt x="205214" y="8928"/>
                </a:lnTo>
                <a:lnTo>
                  <a:pt x="162010" y="177"/>
                </a:lnTo>
                <a:lnTo>
                  <a:pt x="154631" y="0"/>
                </a:lnTo>
                <a:close/>
              </a:path>
            </a:pathLst>
          </a:custGeom>
          <a:solidFill>
            <a:srgbClr val="4D45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75331" y="1666240"/>
            <a:ext cx="1174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9631" y="1539317"/>
            <a:ext cx="7245350" cy="81534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600" spc="-65" b="1">
                <a:latin typeface="Arial"/>
                <a:cs typeface="Arial"/>
              </a:rPr>
              <a:t>Data</a:t>
            </a:r>
            <a:r>
              <a:rPr dirty="0" sz="1600" spc="-150" b="1">
                <a:latin typeface="Arial"/>
                <a:cs typeface="Arial"/>
              </a:rPr>
              <a:t> </a:t>
            </a:r>
            <a:r>
              <a:rPr dirty="0" sz="1600" spc="-80" b="1">
                <a:latin typeface="Arial"/>
                <a:cs typeface="Arial"/>
              </a:rPr>
              <a:t>Cleaning</a:t>
            </a:r>
            <a:r>
              <a:rPr dirty="0" sz="1600" spc="-145" b="1">
                <a:latin typeface="Arial"/>
                <a:cs typeface="Arial"/>
              </a:rPr>
              <a:t> </a:t>
            </a:r>
            <a:r>
              <a:rPr dirty="0" sz="1550" spc="-20" b="1">
                <a:latin typeface="Trebuchet MS"/>
                <a:cs typeface="Trebuchet MS"/>
              </a:rPr>
              <a:t>&amp;</a:t>
            </a:r>
            <a:r>
              <a:rPr dirty="0" sz="1550" spc="-155" b="1">
                <a:latin typeface="Trebuchet MS"/>
                <a:cs typeface="Trebuchet MS"/>
              </a:rPr>
              <a:t> </a:t>
            </a:r>
            <a:r>
              <a:rPr dirty="0" sz="1600" spc="-20" b="1">
                <a:latin typeface="Arial"/>
                <a:cs typeface="Arial"/>
              </a:rPr>
              <a:t>Prep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  <a:spcBef>
                <a:spcPts val="5"/>
              </a:spcBef>
            </a:pP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Handled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categorical</a:t>
            </a:r>
            <a:r>
              <a:rPr dirty="0" sz="13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variables</a:t>
            </a:r>
            <a:r>
              <a:rPr dirty="0" sz="1300" spc="-2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64728B"/>
                </a:solidFill>
                <a:latin typeface="Arial"/>
                <a:cs typeface="Arial"/>
              </a:rPr>
              <a:t>(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One</a:t>
            </a:r>
            <a:r>
              <a:rPr dirty="0" sz="1350" spc="-35">
                <a:solidFill>
                  <a:srgbClr val="64728B"/>
                </a:solidFill>
                <a:latin typeface="Arial"/>
                <a:cs typeface="Arial"/>
              </a:rPr>
              <a:t>-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Hot</a:t>
            </a:r>
            <a:r>
              <a:rPr dirty="0" sz="13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Encoding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)</a:t>
            </a:r>
            <a:r>
              <a:rPr dirty="0" sz="13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for</a:t>
            </a:r>
            <a:r>
              <a:rPr dirty="0" sz="1300" spc="-2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'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Department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'</a:t>
            </a:r>
            <a:r>
              <a:rPr dirty="0" sz="135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and</a:t>
            </a:r>
            <a:r>
              <a:rPr dirty="0" sz="13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35">
                <a:solidFill>
                  <a:srgbClr val="64728B"/>
                </a:solidFill>
                <a:latin typeface="Arial"/>
                <a:cs typeface="Arial"/>
              </a:rPr>
              <a:t>'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JobRole</a:t>
            </a:r>
            <a:r>
              <a:rPr dirty="0" sz="1350" spc="-35">
                <a:solidFill>
                  <a:srgbClr val="64728B"/>
                </a:solidFill>
                <a:latin typeface="Arial"/>
                <a:cs typeface="Arial"/>
              </a:rPr>
              <a:t>'.</a:t>
            </a:r>
            <a:r>
              <a:rPr dirty="0" sz="1350" spc="-6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Checked</a:t>
            </a:r>
            <a:r>
              <a:rPr dirty="0" sz="1300" spc="-2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for</a:t>
            </a:r>
            <a:r>
              <a:rPr dirty="0" sz="13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class imbalance</a:t>
            </a:r>
            <a:r>
              <a:rPr dirty="0" sz="130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(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Attrition</a:t>
            </a:r>
            <a:r>
              <a:rPr dirty="0" sz="13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'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Yes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'</a:t>
            </a:r>
            <a:r>
              <a:rPr dirty="0" sz="1350" spc="-6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is</a:t>
            </a:r>
            <a:r>
              <a:rPr dirty="0" sz="13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minority</a:t>
            </a:r>
            <a:r>
              <a:rPr dirty="0" sz="13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class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71500" y="2705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4631" y="0"/>
                </a:moveTo>
                <a:lnTo>
                  <a:pt x="99585" y="8928"/>
                </a:lnTo>
                <a:lnTo>
                  <a:pt x="60704" y="30010"/>
                </a:lnTo>
                <a:lnTo>
                  <a:pt x="29555" y="61620"/>
                </a:lnTo>
                <a:lnTo>
                  <a:pt x="8773" y="101091"/>
                </a:lnTo>
                <a:lnTo>
                  <a:pt x="179" y="144919"/>
                </a:lnTo>
                <a:lnTo>
                  <a:pt x="0" y="152400"/>
                </a:lnTo>
                <a:lnTo>
                  <a:pt x="720" y="167335"/>
                </a:lnTo>
                <a:lnTo>
                  <a:pt x="11430" y="210692"/>
                </a:lnTo>
                <a:lnTo>
                  <a:pt x="34084" y="249072"/>
                </a:lnTo>
                <a:lnTo>
                  <a:pt x="66737" y="279082"/>
                </a:lnTo>
                <a:lnTo>
                  <a:pt x="106574" y="298221"/>
                </a:lnTo>
                <a:lnTo>
                  <a:pt x="150167" y="304800"/>
                </a:lnTo>
                <a:lnTo>
                  <a:pt x="162010" y="304622"/>
                </a:lnTo>
                <a:lnTo>
                  <a:pt x="205214" y="295871"/>
                </a:lnTo>
                <a:lnTo>
                  <a:pt x="244094" y="274789"/>
                </a:lnTo>
                <a:lnTo>
                  <a:pt x="275242" y="243179"/>
                </a:lnTo>
                <a:lnTo>
                  <a:pt x="296024" y="203708"/>
                </a:lnTo>
                <a:lnTo>
                  <a:pt x="304618" y="159880"/>
                </a:lnTo>
                <a:lnTo>
                  <a:pt x="304800" y="152400"/>
                </a:lnTo>
                <a:lnTo>
                  <a:pt x="304618" y="144919"/>
                </a:lnTo>
                <a:lnTo>
                  <a:pt x="296024" y="101091"/>
                </a:lnTo>
                <a:lnTo>
                  <a:pt x="275242" y="61620"/>
                </a:lnTo>
                <a:lnTo>
                  <a:pt x="244094" y="30010"/>
                </a:lnTo>
                <a:lnTo>
                  <a:pt x="205214" y="8928"/>
                </a:lnTo>
                <a:lnTo>
                  <a:pt x="162010" y="177"/>
                </a:lnTo>
                <a:lnTo>
                  <a:pt x="154631" y="0"/>
                </a:lnTo>
                <a:close/>
              </a:path>
            </a:pathLst>
          </a:custGeom>
          <a:solidFill>
            <a:srgbClr val="4D45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60299" y="2733039"/>
            <a:ext cx="1174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49631" y="2606426"/>
            <a:ext cx="7520305" cy="81470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600" spc="-75" b="1">
                <a:latin typeface="Arial"/>
                <a:cs typeface="Arial"/>
              </a:rPr>
              <a:t>Modeling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Strategy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20400"/>
              </a:lnSpc>
            </a:pP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Moved</a:t>
            </a:r>
            <a:r>
              <a:rPr dirty="0" sz="1300" spc="-6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from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basic</a:t>
            </a:r>
            <a:r>
              <a:rPr dirty="0" sz="1300" spc="-2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correlation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matrices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30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70" b="1">
                <a:solidFill>
                  <a:srgbClr val="64728B"/>
                </a:solidFill>
                <a:latin typeface="Arial"/>
                <a:cs typeface="Arial"/>
              </a:rPr>
              <a:t>Logistic</a:t>
            </a:r>
            <a:r>
              <a:rPr dirty="0" sz="1350" spc="-185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75" b="1">
                <a:solidFill>
                  <a:srgbClr val="64728B"/>
                </a:solidFill>
                <a:latin typeface="Arial"/>
                <a:cs typeface="Arial"/>
              </a:rPr>
              <a:t>Regression</a:t>
            </a:r>
            <a:r>
              <a:rPr dirty="0" sz="1350" spc="-75">
                <a:solidFill>
                  <a:srgbClr val="64728B"/>
                </a:solidFill>
                <a:latin typeface="Arial"/>
                <a:cs typeface="Arial"/>
              </a:rPr>
              <a:t>.</a:t>
            </a:r>
            <a:r>
              <a:rPr dirty="0" sz="1350" spc="-9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This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allowed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me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isolate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50" spc="-10" i="1">
                <a:solidFill>
                  <a:srgbClr val="64728B"/>
                </a:solidFill>
                <a:latin typeface="Arial"/>
                <a:cs typeface="Arial"/>
              </a:rPr>
              <a:t>coefficient </a:t>
            </a:r>
            <a:r>
              <a:rPr dirty="0" sz="1350" spc="-30" i="1">
                <a:solidFill>
                  <a:srgbClr val="64728B"/>
                </a:solidFill>
                <a:latin typeface="Arial"/>
                <a:cs typeface="Arial"/>
              </a:rPr>
              <a:t>weights</a:t>
            </a:r>
            <a:r>
              <a:rPr dirty="0" sz="1350" spc="-75" i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of</a:t>
            </a:r>
            <a:r>
              <a:rPr dirty="0" sz="130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each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feature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understand</a:t>
            </a:r>
            <a:r>
              <a:rPr dirty="0" sz="13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directionality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71500" y="3771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01065" y="8928"/>
                </a:lnTo>
                <a:lnTo>
                  <a:pt x="61606" y="30010"/>
                </a:lnTo>
                <a:lnTo>
                  <a:pt x="29994" y="61620"/>
                </a:lnTo>
                <a:lnTo>
                  <a:pt x="8903" y="101091"/>
                </a:lnTo>
                <a:lnTo>
                  <a:pt x="182" y="144919"/>
                </a:lnTo>
                <a:lnTo>
                  <a:pt x="0" y="152400"/>
                </a:lnTo>
                <a:lnTo>
                  <a:pt x="731" y="167335"/>
                </a:lnTo>
                <a:lnTo>
                  <a:pt x="11599" y="210692"/>
                </a:lnTo>
                <a:lnTo>
                  <a:pt x="34590" y="249072"/>
                </a:lnTo>
                <a:lnTo>
                  <a:pt x="67730" y="279082"/>
                </a:lnTo>
                <a:lnTo>
                  <a:pt x="108159" y="298221"/>
                </a:lnTo>
                <a:lnTo>
                  <a:pt x="152400" y="304800"/>
                </a:lnTo>
                <a:lnTo>
                  <a:pt x="159886" y="304622"/>
                </a:lnTo>
                <a:lnTo>
                  <a:pt x="203733" y="295871"/>
                </a:lnTo>
                <a:lnTo>
                  <a:pt x="243192" y="274789"/>
                </a:lnTo>
                <a:lnTo>
                  <a:pt x="274803" y="243179"/>
                </a:lnTo>
                <a:lnTo>
                  <a:pt x="295894" y="203708"/>
                </a:lnTo>
                <a:lnTo>
                  <a:pt x="304615" y="159880"/>
                </a:lnTo>
                <a:lnTo>
                  <a:pt x="304800" y="152400"/>
                </a:lnTo>
                <a:lnTo>
                  <a:pt x="304615" y="144919"/>
                </a:lnTo>
                <a:lnTo>
                  <a:pt x="295894" y="101091"/>
                </a:lnTo>
                <a:lnTo>
                  <a:pt x="274803" y="61620"/>
                </a:lnTo>
                <a:lnTo>
                  <a:pt x="243192" y="30010"/>
                </a:lnTo>
                <a:lnTo>
                  <a:pt x="203733" y="8928"/>
                </a:lnTo>
                <a:lnTo>
                  <a:pt x="159886" y="177"/>
                </a:lnTo>
                <a:lnTo>
                  <a:pt x="152400" y="0"/>
                </a:lnTo>
                <a:close/>
              </a:path>
            </a:pathLst>
          </a:custGeom>
          <a:solidFill>
            <a:srgbClr val="4D45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1044" y="3799840"/>
            <a:ext cx="11747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54099" y="3623555"/>
            <a:ext cx="7479030" cy="65849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1600" spc="-80" b="1">
                <a:latin typeface="Arial"/>
                <a:cs typeface="Arial"/>
              </a:rPr>
              <a:t>Diagnostic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Analytics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Distinguished</a:t>
            </a:r>
            <a:r>
              <a:rPr dirty="0" sz="130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between </a:t>
            </a:r>
            <a:r>
              <a:rPr dirty="0" sz="1350" spc="-90" b="1">
                <a:solidFill>
                  <a:srgbClr val="DA2525"/>
                </a:solidFill>
                <a:latin typeface="Arial"/>
                <a:cs typeface="Arial"/>
              </a:rPr>
              <a:t>Risk</a:t>
            </a:r>
            <a:r>
              <a:rPr dirty="0" sz="1350" spc="-170" b="1">
                <a:solidFill>
                  <a:srgbClr val="DA2525"/>
                </a:solidFill>
                <a:latin typeface="Arial"/>
                <a:cs typeface="Arial"/>
              </a:rPr>
              <a:t> </a:t>
            </a:r>
            <a:r>
              <a:rPr dirty="0" sz="1350" spc="-75" b="1">
                <a:solidFill>
                  <a:srgbClr val="DA2525"/>
                </a:solidFill>
                <a:latin typeface="Arial"/>
                <a:cs typeface="Arial"/>
              </a:rPr>
              <a:t>Accelerators</a:t>
            </a:r>
            <a:r>
              <a:rPr dirty="0" sz="1350" spc="-105" b="1">
                <a:solidFill>
                  <a:srgbClr val="DA2525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(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drivers</a:t>
            </a:r>
            <a:r>
              <a:rPr dirty="0" sz="130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of exit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)</a:t>
            </a:r>
            <a:r>
              <a:rPr dirty="0" sz="1350" spc="-2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and </a:t>
            </a:r>
            <a:r>
              <a:rPr dirty="0" sz="1350" spc="-70" b="1">
                <a:solidFill>
                  <a:srgbClr val="0C9386"/>
                </a:solidFill>
                <a:latin typeface="Arial"/>
                <a:cs typeface="Arial"/>
              </a:rPr>
              <a:t>Protective</a:t>
            </a:r>
            <a:r>
              <a:rPr dirty="0" sz="1350" spc="-135" b="1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1350" spc="-85" b="1">
                <a:solidFill>
                  <a:srgbClr val="0C9386"/>
                </a:solidFill>
                <a:latin typeface="Arial"/>
                <a:cs typeface="Arial"/>
              </a:rPr>
              <a:t>Factors</a:t>
            </a:r>
            <a:r>
              <a:rPr dirty="0" sz="1350" spc="-114" b="1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64728B"/>
                </a:solidFill>
                <a:latin typeface="Arial"/>
                <a:cs typeface="Arial"/>
              </a:rPr>
              <a:t>(</a:t>
            </a:r>
            <a:r>
              <a:rPr dirty="0" sz="1300">
                <a:solidFill>
                  <a:srgbClr val="64728B"/>
                </a:solidFill>
                <a:latin typeface="Arial"/>
                <a:cs typeface="Arial"/>
              </a:rPr>
              <a:t>anchors of</a:t>
            </a:r>
            <a:r>
              <a:rPr dirty="0" sz="130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4728B"/>
                </a:solidFill>
                <a:latin typeface="Arial"/>
                <a:cs typeface="Arial"/>
              </a:rPr>
              <a:t>retention</a:t>
            </a:r>
            <a:r>
              <a:rPr dirty="0" sz="1350" spc="-10">
                <a:solidFill>
                  <a:srgbClr val="64728B"/>
                </a:solidFill>
                <a:latin typeface="Arial"/>
                <a:cs typeface="Arial"/>
              </a:rPr>
              <a:t>).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799" y="268512"/>
            <a:ext cx="7768590" cy="862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295"/>
              </a:lnSpc>
              <a:spcBef>
                <a:spcPts val="100"/>
              </a:spcBef>
            </a:pPr>
            <a:r>
              <a:rPr dirty="0" sz="2850" spc="-240" b="1">
                <a:solidFill>
                  <a:srgbClr val="0D1728"/>
                </a:solidFill>
                <a:latin typeface="Arial"/>
                <a:cs typeface="Arial"/>
              </a:rPr>
              <a:t>Exposure</a:t>
            </a:r>
            <a:r>
              <a:rPr dirty="0" sz="2650" spc="-240" b="1">
                <a:solidFill>
                  <a:srgbClr val="0D1728"/>
                </a:solidFill>
                <a:latin typeface="Arial"/>
                <a:cs typeface="Arial"/>
              </a:rPr>
              <a:t>:</a:t>
            </a:r>
            <a:r>
              <a:rPr dirty="0" sz="2650" spc="-30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170" b="1">
                <a:solidFill>
                  <a:srgbClr val="0D1728"/>
                </a:solidFill>
                <a:latin typeface="Arial"/>
                <a:cs typeface="Arial"/>
              </a:rPr>
              <a:t>High</a:t>
            </a:r>
            <a:r>
              <a:rPr dirty="0" sz="2650" spc="-170" b="1">
                <a:solidFill>
                  <a:srgbClr val="0D1728"/>
                </a:solidFill>
                <a:latin typeface="Arial"/>
                <a:cs typeface="Arial"/>
              </a:rPr>
              <a:t>-</a:t>
            </a:r>
            <a:r>
              <a:rPr dirty="0" sz="2850" spc="-175" b="1">
                <a:solidFill>
                  <a:srgbClr val="0D1728"/>
                </a:solidFill>
                <a:latin typeface="Arial"/>
                <a:cs typeface="Arial"/>
              </a:rPr>
              <a:t>risk</a:t>
            </a:r>
            <a:r>
              <a:rPr dirty="0" sz="2850" spc="-30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235" b="1">
                <a:solidFill>
                  <a:srgbClr val="0D1728"/>
                </a:solidFill>
                <a:latin typeface="Arial"/>
                <a:cs typeface="Arial"/>
              </a:rPr>
              <a:t>employees</a:t>
            </a:r>
            <a:r>
              <a:rPr dirty="0" sz="2850" spc="-34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210" b="1">
                <a:solidFill>
                  <a:srgbClr val="0D1728"/>
                </a:solidFill>
                <a:latin typeface="Arial"/>
                <a:cs typeface="Arial"/>
              </a:rPr>
              <a:t>represent</a:t>
            </a:r>
            <a:r>
              <a:rPr dirty="0" sz="2850" spc="-30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0D1728"/>
                </a:solidFill>
                <a:latin typeface="Arial"/>
                <a:cs typeface="Arial"/>
              </a:rPr>
              <a:t>a</a:t>
            </a:r>
            <a:r>
              <a:rPr dirty="0" sz="2850" spc="-32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110" b="1">
                <a:solidFill>
                  <a:srgbClr val="0D1728"/>
                </a:solidFill>
                <a:latin typeface="Arial"/>
                <a:cs typeface="Arial"/>
              </a:rPr>
              <a:t>potential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295"/>
              </a:lnSpc>
            </a:pPr>
            <a:r>
              <a:rPr dirty="0" sz="2850" spc="-145" b="1">
                <a:solidFill>
                  <a:srgbClr val="0D1728"/>
                </a:solidFill>
                <a:latin typeface="Arial"/>
                <a:cs typeface="Arial"/>
              </a:rPr>
              <a:t>$</a:t>
            </a:r>
            <a:r>
              <a:rPr dirty="0" sz="2650" spc="-145" b="1">
                <a:solidFill>
                  <a:srgbClr val="0D1728"/>
                </a:solidFill>
                <a:latin typeface="Arial"/>
                <a:cs typeface="Arial"/>
              </a:rPr>
              <a:t>7.7</a:t>
            </a:r>
            <a:r>
              <a:rPr dirty="0" sz="2850" spc="-145" b="1">
                <a:solidFill>
                  <a:srgbClr val="0D1728"/>
                </a:solidFill>
                <a:latin typeface="Arial"/>
                <a:cs typeface="Arial"/>
              </a:rPr>
              <a:t>M</a:t>
            </a:r>
            <a:r>
              <a:rPr dirty="0" sz="2850" spc="-27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170" b="1">
                <a:solidFill>
                  <a:srgbClr val="0D1728"/>
                </a:solidFill>
                <a:latin typeface="Arial"/>
                <a:cs typeface="Arial"/>
              </a:rPr>
              <a:t>liability</a:t>
            </a:r>
            <a:r>
              <a:rPr dirty="0" sz="2850" spc="-30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114" b="1">
                <a:solidFill>
                  <a:srgbClr val="0D1728"/>
                </a:solidFill>
                <a:latin typeface="Arial"/>
                <a:cs typeface="Arial"/>
              </a:rPr>
              <a:t>to</a:t>
            </a:r>
            <a:r>
              <a:rPr dirty="0" sz="2850" spc="-34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0D1728"/>
                </a:solidFill>
                <a:latin typeface="Arial"/>
                <a:cs typeface="Arial"/>
              </a:rPr>
              <a:t>the</a:t>
            </a:r>
            <a:r>
              <a:rPr dirty="0" sz="2850" spc="-31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0D1728"/>
                </a:solidFill>
                <a:latin typeface="Arial"/>
                <a:cs typeface="Arial"/>
              </a:rPr>
              <a:t>organization</a:t>
            </a:r>
            <a:r>
              <a:rPr dirty="0" sz="2650" spc="-20" b="1">
                <a:solidFill>
                  <a:srgbClr val="0D1728"/>
                </a:solidFill>
                <a:latin typeface="Arial"/>
                <a:cs typeface="Arial"/>
              </a:rPr>
              <a:t>.</a:t>
            </a:r>
            <a:endParaRPr sz="26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8797" y="1374102"/>
            <a:ext cx="747649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dirty="0" sz="1500" spc="-45">
                <a:solidFill>
                  <a:srgbClr val="64728B"/>
                </a:solidFill>
                <a:latin typeface="Arial"/>
                <a:cs typeface="Arial"/>
              </a:rPr>
              <a:t>Our</a:t>
            </a:r>
            <a:r>
              <a:rPr dirty="0" sz="1500" spc="-9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model</a:t>
            </a:r>
            <a:r>
              <a:rPr dirty="0" sz="1500" spc="-9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predicts</a:t>
            </a:r>
            <a:r>
              <a:rPr dirty="0" sz="1500" spc="-4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significant</a:t>
            </a:r>
            <a:r>
              <a:rPr dirty="0" sz="150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exposure</a:t>
            </a:r>
            <a:r>
              <a:rPr dirty="0" sz="1450" spc="-35">
                <a:solidFill>
                  <a:srgbClr val="64728B"/>
                </a:solidFill>
                <a:latin typeface="Arial"/>
                <a:cs typeface="Arial"/>
              </a:rPr>
              <a:t>.</a:t>
            </a:r>
            <a:r>
              <a:rPr dirty="0" sz="1450" spc="-6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4728B"/>
                </a:solidFill>
                <a:latin typeface="Arial"/>
                <a:cs typeface="Arial"/>
              </a:rPr>
              <a:t>High</a:t>
            </a:r>
            <a:r>
              <a:rPr dirty="0" sz="1450" spc="-25">
                <a:solidFill>
                  <a:srgbClr val="64728B"/>
                </a:solidFill>
                <a:latin typeface="Arial"/>
                <a:cs typeface="Arial"/>
              </a:rPr>
              <a:t>-</a:t>
            </a:r>
            <a:r>
              <a:rPr dirty="0" sz="1500">
                <a:solidFill>
                  <a:srgbClr val="64728B"/>
                </a:solidFill>
                <a:latin typeface="Arial"/>
                <a:cs typeface="Arial"/>
              </a:rPr>
              <a:t>risk</a:t>
            </a: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64728B"/>
                </a:solidFill>
                <a:latin typeface="Arial"/>
                <a:cs typeface="Arial"/>
              </a:rPr>
              <a:t>employees</a:t>
            </a:r>
            <a:r>
              <a:rPr dirty="0" sz="150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are</a:t>
            </a:r>
            <a:r>
              <a:rPr dirty="0" sz="150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4728B"/>
                </a:solidFill>
                <a:latin typeface="Arial"/>
                <a:cs typeface="Arial"/>
              </a:rPr>
              <a:t>concentrated</a:t>
            </a:r>
            <a:r>
              <a:rPr dirty="0" sz="150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4728B"/>
                </a:solidFill>
                <a:latin typeface="Arial"/>
                <a:cs typeface="Arial"/>
              </a:rPr>
              <a:t>in</a:t>
            </a:r>
            <a:r>
              <a:rPr dirty="0" sz="150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20">
                <a:solidFill>
                  <a:srgbClr val="64728B"/>
                </a:solidFill>
                <a:latin typeface="Arial"/>
                <a:cs typeface="Arial"/>
              </a:rPr>
              <a:t>R</a:t>
            </a:r>
            <a:r>
              <a:rPr dirty="0" sz="1450" spc="-120">
                <a:solidFill>
                  <a:srgbClr val="64728B"/>
                </a:solidFill>
                <a:latin typeface="Arial"/>
                <a:cs typeface="Arial"/>
              </a:rPr>
              <a:t>&amp;</a:t>
            </a:r>
            <a:r>
              <a:rPr dirty="0" sz="1500" spc="-120">
                <a:solidFill>
                  <a:srgbClr val="64728B"/>
                </a:solidFill>
                <a:latin typeface="Arial"/>
                <a:cs typeface="Arial"/>
              </a:rPr>
              <a:t>D</a:t>
            </a:r>
            <a:r>
              <a:rPr dirty="0" sz="1500" spc="-16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roles </a:t>
            </a:r>
            <a:r>
              <a:rPr dirty="0" sz="1500">
                <a:solidFill>
                  <a:srgbClr val="64728B"/>
                </a:solidFill>
                <a:latin typeface="Arial"/>
                <a:cs typeface="Arial"/>
              </a:rPr>
              <a:t>with</a:t>
            </a:r>
            <a:r>
              <a:rPr dirty="0" sz="150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specific</a:t>
            </a:r>
            <a:r>
              <a:rPr dirty="0" sz="1500" spc="-6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64728B"/>
                </a:solidFill>
                <a:latin typeface="Arial"/>
                <a:cs typeface="Arial"/>
              </a:rPr>
              <a:t>tenure</a:t>
            </a:r>
            <a:r>
              <a:rPr dirty="0" sz="1500" spc="-8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profiles</a:t>
            </a:r>
            <a:r>
              <a:rPr dirty="0" sz="1450" spc="-10">
                <a:solidFill>
                  <a:srgbClr val="64728B"/>
                </a:solidFill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71498" y="2419350"/>
            <a:ext cx="2543175" cy="1200150"/>
            <a:chOff x="571498" y="2419350"/>
            <a:chExt cx="2543175" cy="1200150"/>
          </a:xfrm>
        </p:grpSpPr>
        <p:sp>
          <p:nvSpPr>
            <p:cNvPr id="5" name="object 5" descr=""/>
            <p:cNvSpPr/>
            <p:nvPr/>
          </p:nvSpPr>
          <p:spPr>
            <a:xfrm>
              <a:off x="576261" y="2424112"/>
              <a:ext cx="2533650" cy="1190625"/>
            </a:xfrm>
            <a:custGeom>
              <a:avLst/>
              <a:gdLst/>
              <a:ahLst/>
              <a:cxnLst/>
              <a:rect l="l" t="t" r="r" b="b"/>
              <a:pathLst>
                <a:path w="2533650" h="1190625">
                  <a:moveTo>
                    <a:pt x="2466898" y="0"/>
                  </a:moveTo>
                  <a:lnTo>
                    <a:pt x="66745" y="0"/>
                  </a:lnTo>
                  <a:lnTo>
                    <a:pt x="48431" y="3619"/>
                  </a:lnTo>
                  <a:lnTo>
                    <a:pt x="14644" y="27812"/>
                  </a:lnTo>
                  <a:lnTo>
                    <a:pt x="0" y="66763"/>
                  </a:lnTo>
                  <a:lnTo>
                    <a:pt x="0" y="1123848"/>
                  </a:lnTo>
                  <a:lnTo>
                    <a:pt x="2286" y="1137754"/>
                  </a:lnTo>
                  <a:lnTo>
                    <a:pt x="24239" y="1172997"/>
                  </a:lnTo>
                  <a:lnTo>
                    <a:pt x="62100" y="1190142"/>
                  </a:lnTo>
                  <a:lnTo>
                    <a:pt x="66745" y="1190625"/>
                  </a:lnTo>
                  <a:lnTo>
                    <a:pt x="2466898" y="1190625"/>
                  </a:lnTo>
                  <a:lnTo>
                    <a:pt x="2471547" y="1190142"/>
                  </a:lnTo>
                  <a:lnTo>
                    <a:pt x="2485212" y="1187005"/>
                  </a:lnTo>
                  <a:lnTo>
                    <a:pt x="2518994" y="1162812"/>
                  </a:lnTo>
                  <a:lnTo>
                    <a:pt x="2533650" y="1123848"/>
                  </a:lnTo>
                  <a:lnTo>
                    <a:pt x="2533650" y="66763"/>
                  </a:lnTo>
                  <a:lnTo>
                    <a:pt x="2530005" y="48387"/>
                  </a:lnTo>
                  <a:lnTo>
                    <a:pt x="2505798" y="14668"/>
                  </a:lnTo>
                  <a:lnTo>
                    <a:pt x="2466898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6261" y="2424112"/>
              <a:ext cx="2533650" cy="1190625"/>
            </a:xfrm>
            <a:custGeom>
              <a:avLst/>
              <a:gdLst/>
              <a:ahLst/>
              <a:cxnLst/>
              <a:rect l="l" t="t" r="r" b="b"/>
              <a:pathLst>
                <a:path w="2533650" h="1190625">
                  <a:moveTo>
                    <a:pt x="0" y="1119187"/>
                  </a:moveTo>
                  <a:lnTo>
                    <a:pt x="0" y="71437"/>
                  </a:lnTo>
                  <a:lnTo>
                    <a:pt x="0" y="66763"/>
                  </a:lnTo>
                  <a:lnTo>
                    <a:pt x="456" y="62102"/>
                  </a:lnTo>
                  <a:lnTo>
                    <a:pt x="1371" y="57530"/>
                  </a:lnTo>
                  <a:lnTo>
                    <a:pt x="2286" y="52857"/>
                  </a:lnTo>
                  <a:lnTo>
                    <a:pt x="3641" y="48387"/>
                  </a:lnTo>
                  <a:lnTo>
                    <a:pt x="5436" y="44094"/>
                  </a:lnTo>
                  <a:lnTo>
                    <a:pt x="7232" y="39712"/>
                  </a:lnTo>
                  <a:lnTo>
                    <a:pt x="9432" y="35623"/>
                  </a:lnTo>
                  <a:lnTo>
                    <a:pt x="12038" y="31711"/>
                  </a:lnTo>
                  <a:lnTo>
                    <a:pt x="14644" y="27812"/>
                  </a:lnTo>
                  <a:lnTo>
                    <a:pt x="17605" y="24193"/>
                  </a:lnTo>
                  <a:lnTo>
                    <a:pt x="20922" y="20954"/>
                  </a:lnTo>
                  <a:lnTo>
                    <a:pt x="24239" y="17614"/>
                  </a:lnTo>
                  <a:lnTo>
                    <a:pt x="62100" y="469"/>
                  </a:lnTo>
                  <a:lnTo>
                    <a:pt x="66745" y="0"/>
                  </a:lnTo>
                  <a:lnTo>
                    <a:pt x="71436" y="0"/>
                  </a:lnTo>
                  <a:lnTo>
                    <a:pt x="2462212" y="0"/>
                  </a:lnTo>
                  <a:lnTo>
                    <a:pt x="2466898" y="0"/>
                  </a:lnTo>
                  <a:lnTo>
                    <a:pt x="2471547" y="469"/>
                  </a:lnTo>
                  <a:lnTo>
                    <a:pt x="2512720" y="20954"/>
                  </a:lnTo>
                  <a:lnTo>
                    <a:pt x="2532278" y="57530"/>
                  </a:lnTo>
                  <a:lnTo>
                    <a:pt x="2533192" y="62102"/>
                  </a:lnTo>
                  <a:lnTo>
                    <a:pt x="2533650" y="66763"/>
                  </a:lnTo>
                  <a:lnTo>
                    <a:pt x="2533650" y="71437"/>
                  </a:lnTo>
                  <a:lnTo>
                    <a:pt x="2533650" y="1119187"/>
                  </a:lnTo>
                  <a:lnTo>
                    <a:pt x="2533650" y="1123848"/>
                  </a:lnTo>
                  <a:lnTo>
                    <a:pt x="2533192" y="1128522"/>
                  </a:lnTo>
                  <a:lnTo>
                    <a:pt x="2532278" y="1133094"/>
                  </a:lnTo>
                  <a:lnTo>
                    <a:pt x="2531364" y="1137754"/>
                  </a:lnTo>
                  <a:lnTo>
                    <a:pt x="2509405" y="1172997"/>
                  </a:lnTo>
                  <a:lnTo>
                    <a:pt x="2471547" y="1190142"/>
                  </a:lnTo>
                  <a:lnTo>
                    <a:pt x="2466898" y="1190625"/>
                  </a:lnTo>
                  <a:lnTo>
                    <a:pt x="2462212" y="1190625"/>
                  </a:lnTo>
                  <a:lnTo>
                    <a:pt x="71436" y="1190625"/>
                  </a:lnTo>
                  <a:lnTo>
                    <a:pt x="66745" y="1190625"/>
                  </a:lnTo>
                  <a:lnTo>
                    <a:pt x="62100" y="1190142"/>
                  </a:lnTo>
                  <a:lnTo>
                    <a:pt x="57499" y="1189291"/>
                  </a:lnTo>
                  <a:lnTo>
                    <a:pt x="52898" y="1188339"/>
                  </a:lnTo>
                  <a:lnTo>
                    <a:pt x="48431" y="1187005"/>
                  </a:lnTo>
                  <a:lnTo>
                    <a:pt x="44098" y="1185189"/>
                  </a:lnTo>
                  <a:lnTo>
                    <a:pt x="39764" y="1183386"/>
                  </a:lnTo>
                  <a:lnTo>
                    <a:pt x="1371" y="1133094"/>
                  </a:lnTo>
                  <a:lnTo>
                    <a:pt x="0" y="1123848"/>
                  </a:lnTo>
                  <a:lnTo>
                    <a:pt x="0" y="1119187"/>
                  </a:lnTo>
                  <a:close/>
                </a:path>
              </a:pathLst>
            </a:custGeom>
            <a:ln w="9524">
              <a:solidFill>
                <a:srgbClr val="E1E6F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758824" y="2558262"/>
            <a:ext cx="1477010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45"/>
              </a:lnSpc>
              <a:spcBef>
                <a:spcPts val="100"/>
              </a:spcBef>
            </a:pP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TOTAL</a:t>
            </a:r>
            <a:r>
              <a:rPr dirty="0" sz="11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EMPLOYEES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3745"/>
              </a:lnSpc>
            </a:pPr>
            <a:r>
              <a:rPr dirty="0" sz="3400" spc="-365">
                <a:solidFill>
                  <a:srgbClr val="0D1728"/>
                </a:solidFill>
                <a:latin typeface="Courier New"/>
                <a:cs typeface="Courier New"/>
              </a:rPr>
              <a:t>1,470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000" b="1">
                <a:solidFill>
                  <a:srgbClr val="0C9386"/>
                </a:solidFill>
                <a:latin typeface="Arial"/>
                <a:cs typeface="Arial"/>
              </a:rPr>
              <a:t>84%</a:t>
            </a:r>
            <a:r>
              <a:rPr dirty="0" sz="1000" spc="10" b="1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C9386"/>
                </a:solidFill>
                <a:latin typeface="Arial"/>
                <a:cs typeface="Arial"/>
              </a:rPr>
              <a:t>Accuracy</a:t>
            </a:r>
            <a:r>
              <a:rPr dirty="0" sz="950" spc="45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C9386"/>
                </a:solidFill>
                <a:latin typeface="Arial"/>
                <a:cs typeface="Arial"/>
              </a:rPr>
              <a:t>on</a:t>
            </a:r>
            <a:r>
              <a:rPr dirty="0" sz="950" spc="40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0C9386"/>
                </a:solidFill>
                <a:latin typeface="Arial"/>
                <a:cs typeface="Arial"/>
              </a:rPr>
              <a:t>Test</a:t>
            </a:r>
            <a:r>
              <a:rPr dirty="0" sz="950" spc="45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0C9386"/>
                </a:solidFill>
                <a:latin typeface="Arial"/>
                <a:cs typeface="Arial"/>
              </a:rPr>
              <a:t>Set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305175" y="2419350"/>
            <a:ext cx="2533650" cy="1200150"/>
            <a:chOff x="3305175" y="2419350"/>
            <a:chExt cx="2533650" cy="1200150"/>
          </a:xfrm>
        </p:grpSpPr>
        <p:sp>
          <p:nvSpPr>
            <p:cNvPr id="9" name="object 9" descr=""/>
            <p:cNvSpPr/>
            <p:nvPr/>
          </p:nvSpPr>
          <p:spPr>
            <a:xfrm>
              <a:off x="3309937" y="2424112"/>
              <a:ext cx="2524125" cy="1190625"/>
            </a:xfrm>
            <a:custGeom>
              <a:avLst/>
              <a:gdLst/>
              <a:ahLst/>
              <a:cxnLst/>
              <a:rect l="l" t="t" r="r" b="b"/>
              <a:pathLst>
                <a:path w="2524125" h="1190625">
                  <a:moveTo>
                    <a:pt x="2457373" y="0"/>
                  </a:moveTo>
                  <a:lnTo>
                    <a:pt x="66750" y="0"/>
                  </a:lnTo>
                  <a:lnTo>
                    <a:pt x="48433" y="3619"/>
                  </a:lnTo>
                  <a:lnTo>
                    <a:pt x="14648" y="27812"/>
                  </a:lnTo>
                  <a:lnTo>
                    <a:pt x="0" y="66763"/>
                  </a:lnTo>
                  <a:lnTo>
                    <a:pt x="0" y="1123848"/>
                  </a:lnTo>
                  <a:lnTo>
                    <a:pt x="2286" y="1137754"/>
                  </a:lnTo>
                  <a:lnTo>
                    <a:pt x="24240" y="1172997"/>
                  </a:lnTo>
                  <a:lnTo>
                    <a:pt x="62101" y="1190142"/>
                  </a:lnTo>
                  <a:lnTo>
                    <a:pt x="66750" y="1190625"/>
                  </a:lnTo>
                  <a:lnTo>
                    <a:pt x="2457373" y="1190625"/>
                  </a:lnTo>
                  <a:lnTo>
                    <a:pt x="2462022" y="1190142"/>
                  </a:lnTo>
                  <a:lnTo>
                    <a:pt x="2475687" y="1187005"/>
                  </a:lnTo>
                  <a:lnTo>
                    <a:pt x="2509469" y="1162812"/>
                  </a:lnTo>
                  <a:lnTo>
                    <a:pt x="2524125" y="1123848"/>
                  </a:lnTo>
                  <a:lnTo>
                    <a:pt x="2524125" y="66763"/>
                  </a:lnTo>
                  <a:lnTo>
                    <a:pt x="2520480" y="48387"/>
                  </a:lnTo>
                  <a:lnTo>
                    <a:pt x="2496273" y="14668"/>
                  </a:lnTo>
                  <a:lnTo>
                    <a:pt x="2457373" y="0"/>
                  </a:lnTo>
                  <a:close/>
                </a:path>
              </a:pathLst>
            </a:custGeom>
            <a:solidFill>
              <a:srgbClr val="FE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09937" y="2424112"/>
              <a:ext cx="2524125" cy="1190625"/>
            </a:xfrm>
            <a:custGeom>
              <a:avLst/>
              <a:gdLst/>
              <a:ahLst/>
              <a:cxnLst/>
              <a:rect l="l" t="t" r="r" b="b"/>
              <a:pathLst>
                <a:path w="2524125" h="1190625">
                  <a:moveTo>
                    <a:pt x="0" y="1119187"/>
                  </a:moveTo>
                  <a:lnTo>
                    <a:pt x="0" y="71437"/>
                  </a:lnTo>
                  <a:lnTo>
                    <a:pt x="0" y="66763"/>
                  </a:lnTo>
                  <a:lnTo>
                    <a:pt x="456" y="62102"/>
                  </a:lnTo>
                  <a:lnTo>
                    <a:pt x="1370" y="57530"/>
                  </a:lnTo>
                  <a:lnTo>
                    <a:pt x="2286" y="52857"/>
                  </a:lnTo>
                  <a:lnTo>
                    <a:pt x="3637" y="48387"/>
                  </a:lnTo>
                  <a:lnTo>
                    <a:pt x="5437" y="44094"/>
                  </a:lnTo>
                  <a:lnTo>
                    <a:pt x="7228" y="39712"/>
                  </a:lnTo>
                  <a:lnTo>
                    <a:pt x="9428" y="35623"/>
                  </a:lnTo>
                  <a:lnTo>
                    <a:pt x="12038" y="31711"/>
                  </a:lnTo>
                  <a:lnTo>
                    <a:pt x="14648" y="27812"/>
                  </a:lnTo>
                  <a:lnTo>
                    <a:pt x="17601" y="24193"/>
                  </a:lnTo>
                  <a:lnTo>
                    <a:pt x="20925" y="20954"/>
                  </a:lnTo>
                  <a:lnTo>
                    <a:pt x="24240" y="17614"/>
                  </a:lnTo>
                  <a:lnTo>
                    <a:pt x="62101" y="469"/>
                  </a:lnTo>
                  <a:lnTo>
                    <a:pt x="66750" y="0"/>
                  </a:lnTo>
                  <a:lnTo>
                    <a:pt x="71436" y="0"/>
                  </a:lnTo>
                  <a:lnTo>
                    <a:pt x="2452687" y="0"/>
                  </a:lnTo>
                  <a:lnTo>
                    <a:pt x="2457373" y="0"/>
                  </a:lnTo>
                  <a:lnTo>
                    <a:pt x="2462022" y="469"/>
                  </a:lnTo>
                  <a:lnTo>
                    <a:pt x="2499880" y="17614"/>
                  </a:lnTo>
                  <a:lnTo>
                    <a:pt x="2503195" y="20954"/>
                  </a:lnTo>
                  <a:lnTo>
                    <a:pt x="2506510" y="24193"/>
                  </a:lnTo>
                  <a:lnTo>
                    <a:pt x="2518689" y="44094"/>
                  </a:lnTo>
                  <a:lnTo>
                    <a:pt x="2520480" y="48387"/>
                  </a:lnTo>
                  <a:lnTo>
                    <a:pt x="2521839" y="52857"/>
                  </a:lnTo>
                  <a:lnTo>
                    <a:pt x="2522753" y="57530"/>
                  </a:lnTo>
                  <a:lnTo>
                    <a:pt x="2523667" y="62102"/>
                  </a:lnTo>
                  <a:lnTo>
                    <a:pt x="2524125" y="66763"/>
                  </a:lnTo>
                  <a:lnTo>
                    <a:pt x="2524125" y="71437"/>
                  </a:lnTo>
                  <a:lnTo>
                    <a:pt x="2524125" y="1119187"/>
                  </a:lnTo>
                  <a:lnTo>
                    <a:pt x="2524125" y="1123848"/>
                  </a:lnTo>
                  <a:lnTo>
                    <a:pt x="2523667" y="1128522"/>
                  </a:lnTo>
                  <a:lnTo>
                    <a:pt x="2522753" y="1133094"/>
                  </a:lnTo>
                  <a:lnTo>
                    <a:pt x="2521839" y="1137754"/>
                  </a:lnTo>
                  <a:lnTo>
                    <a:pt x="2503195" y="1169670"/>
                  </a:lnTo>
                  <a:lnTo>
                    <a:pt x="2499880" y="1172997"/>
                  </a:lnTo>
                  <a:lnTo>
                    <a:pt x="2462022" y="1190142"/>
                  </a:lnTo>
                  <a:lnTo>
                    <a:pt x="2457373" y="1190625"/>
                  </a:lnTo>
                  <a:lnTo>
                    <a:pt x="2452687" y="1190625"/>
                  </a:lnTo>
                  <a:lnTo>
                    <a:pt x="71436" y="1190625"/>
                  </a:lnTo>
                  <a:lnTo>
                    <a:pt x="66750" y="1190625"/>
                  </a:lnTo>
                  <a:lnTo>
                    <a:pt x="62101" y="1190142"/>
                  </a:lnTo>
                  <a:lnTo>
                    <a:pt x="24240" y="1172997"/>
                  </a:lnTo>
                  <a:lnTo>
                    <a:pt x="1370" y="1133094"/>
                  </a:lnTo>
                  <a:lnTo>
                    <a:pt x="0" y="1123848"/>
                  </a:lnTo>
                  <a:lnTo>
                    <a:pt x="0" y="1119187"/>
                  </a:lnTo>
                  <a:close/>
                </a:path>
              </a:pathLst>
            </a:custGeom>
            <a:ln w="9524">
              <a:solidFill>
                <a:srgbClr val="DA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489223" y="2578989"/>
            <a:ext cx="1501140" cy="847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160"/>
              </a:lnSpc>
              <a:spcBef>
                <a:spcPts val="100"/>
              </a:spcBef>
            </a:pP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HIGH</a:t>
            </a:r>
            <a:r>
              <a:rPr dirty="0" sz="11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64728B"/>
                </a:solidFill>
                <a:latin typeface="Arial"/>
                <a:cs typeface="Arial"/>
              </a:rPr>
              <a:t>RISK</a:t>
            </a:r>
            <a:r>
              <a:rPr dirty="0" sz="115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SEGMENT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3379"/>
              </a:lnSpc>
            </a:pPr>
            <a:r>
              <a:rPr dirty="0" sz="3000" spc="-25">
                <a:solidFill>
                  <a:srgbClr val="DA2525"/>
                </a:solidFill>
                <a:latin typeface="Courier New"/>
                <a:cs typeface="Courier New"/>
              </a:rPr>
              <a:t>237</a:t>
            </a: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000" spc="-80">
                <a:solidFill>
                  <a:srgbClr val="DA2525"/>
                </a:solidFill>
                <a:latin typeface="Arial"/>
                <a:cs typeface="Arial"/>
              </a:rPr>
              <a:t>~16.1%</a:t>
            </a:r>
            <a:r>
              <a:rPr dirty="0" sz="1000" spc="-40">
                <a:solidFill>
                  <a:srgbClr val="DA2525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DA2525"/>
                </a:solidFill>
                <a:latin typeface="Arial"/>
                <a:cs typeface="Arial"/>
              </a:rPr>
              <a:t>of</a:t>
            </a:r>
            <a:r>
              <a:rPr dirty="0" sz="950" spc="70">
                <a:solidFill>
                  <a:srgbClr val="DA2525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DA2525"/>
                </a:solidFill>
                <a:latin typeface="Arial"/>
                <a:cs typeface="Arial"/>
              </a:rPr>
              <a:t>Workforce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029325" y="2419362"/>
            <a:ext cx="2543175" cy="1200150"/>
            <a:chOff x="6029325" y="2419362"/>
            <a:chExt cx="2543175" cy="1200150"/>
          </a:xfrm>
        </p:grpSpPr>
        <p:sp>
          <p:nvSpPr>
            <p:cNvPr id="13" name="object 13" descr=""/>
            <p:cNvSpPr/>
            <p:nvPr/>
          </p:nvSpPr>
          <p:spPr>
            <a:xfrm>
              <a:off x="6048375" y="2424112"/>
              <a:ext cx="2519680" cy="1190625"/>
            </a:xfrm>
            <a:custGeom>
              <a:avLst/>
              <a:gdLst/>
              <a:ahLst/>
              <a:cxnLst/>
              <a:rect l="l" t="t" r="r" b="b"/>
              <a:pathLst>
                <a:path w="2519679" h="1190625">
                  <a:moveTo>
                    <a:pt x="2452611" y="0"/>
                  </a:moveTo>
                  <a:lnTo>
                    <a:pt x="53397" y="0"/>
                  </a:lnTo>
                  <a:lnTo>
                    <a:pt x="42318" y="2286"/>
                  </a:lnTo>
                  <a:lnTo>
                    <a:pt x="11714" y="27812"/>
                  </a:lnTo>
                  <a:lnTo>
                    <a:pt x="0" y="66763"/>
                  </a:lnTo>
                  <a:lnTo>
                    <a:pt x="0" y="1123848"/>
                  </a:lnTo>
                  <a:lnTo>
                    <a:pt x="360" y="1128522"/>
                  </a:lnTo>
                  <a:lnTo>
                    <a:pt x="14086" y="1166329"/>
                  </a:lnTo>
                  <a:lnTo>
                    <a:pt x="49681" y="1190142"/>
                  </a:lnTo>
                  <a:lnTo>
                    <a:pt x="53397" y="1190625"/>
                  </a:lnTo>
                  <a:lnTo>
                    <a:pt x="2452611" y="1190625"/>
                  </a:lnTo>
                  <a:lnTo>
                    <a:pt x="2457259" y="1190142"/>
                  </a:lnTo>
                  <a:lnTo>
                    <a:pt x="2470924" y="1187005"/>
                  </a:lnTo>
                  <a:lnTo>
                    <a:pt x="2504719" y="1162812"/>
                  </a:lnTo>
                  <a:lnTo>
                    <a:pt x="2519362" y="1123848"/>
                  </a:lnTo>
                  <a:lnTo>
                    <a:pt x="2519362" y="66763"/>
                  </a:lnTo>
                  <a:lnTo>
                    <a:pt x="2515717" y="48387"/>
                  </a:lnTo>
                  <a:lnTo>
                    <a:pt x="2491511" y="14668"/>
                  </a:lnTo>
                  <a:lnTo>
                    <a:pt x="245261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067729" y="2419362"/>
              <a:ext cx="2505075" cy="1200150"/>
            </a:xfrm>
            <a:custGeom>
              <a:avLst/>
              <a:gdLst/>
              <a:ahLst/>
              <a:cxnLst/>
              <a:rect l="l" t="t" r="r" b="b"/>
              <a:pathLst>
                <a:path w="2505075" h="1200150">
                  <a:moveTo>
                    <a:pt x="2428570" y="0"/>
                  </a:moveTo>
                  <a:lnTo>
                    <a:pt x="37768" y="0"/>
                  </a:lnTo>
                  <a:lnTo>
                    <a:pt x="0" y="9842"/>
                  </a:lnTo>
                  <a:lnTo>
                    <a:pt x="22135" y="15366"/>
                  </a:lnTo>
                  <a:lnTo>
                    <a:pt x="27862" y="11214"/>
                  </a:lnTo>
                  <a:lnTo>
                    <a:pt x="32739" y="9525"/>
                  </a:lnTo>
                  <a:lnTo>
                    <a:pt x="2428570" y="9525"/>
                  </a:lnTo>
                  <a:lnTo>
                    <a:pt x="2435136" y="9842"/>
                  </a:lnTo>
                  <a:lnTo>
                    <a:pt x="2470848" y="24625"/>
                  </a:lnTo>
                  <a:lnTo>
                    <a:pt x="2492387" y="56870"/>
                  </a:lnTo>
                  <a:lnTo>
                    <a:pt x="2495257" y="76200"/>
                  </a:lnTo>
                  <a:lnTo>
                    <a:pt x="2495257" y="1123950"/>
                  </a:lnTo>
                  <a:lnTo>
                    <a:pt x="2484018" y="1160995"/>
                  </a:lnTo>
                  <a:lnTo>
                    <a:pt x="2454071" y="1185545"/>
                  </a:lnTo>
                  <a:lnTo>
                    <a:pt x="2435555" y="1190231"/>
                  </a:lnTo>
                  <a:lnTo>
                    <a:pt x="2436418" y="1190231"/>
                  </a:lnTo>
                  <a:lnTo>
                    <a:pt x="2428570" y="1190599"/>
                  </a:lnTo>
                  <a:lnTo>
                    <a:pt x="32739" y="1190599"/>
                  </a:lnTo>
                  <a:lnTo>
                    <a:pt x="27862" y="1188923"/>
                  </a:lnTo>
                  <a:lnTo>
                    <a:pt x="22135" y="1184770"/>
                  </a:lnTo>
                  <a:lnTo>
                    <a:pt x="303" y="1190231"/>
                  </a:lnTo>
                  <a:lnTo>
                    <a:pt x="37768" y="1200150"/>
                  </a:lnTo>
                  <a:lnTo>
                    <a:pt x="2428570" y="1200150"/>
                  </a:lnTo>
                  <a:lnTo>
                    <a:pt x="2470899" y="1187310"/>
                  </a:lnTo>
                  <a:lnTo>
                    <a:pt x="2504401" y="1131455"/>
                  </a:lnTo>
                  <a:lnTo>
                    <a:pt x="2504770" y="1123950"/>
                  </a:lnTo>
                  <a:lnTo>
                    <a:pt x="2504770" y="76200"/>
                  </a:lnTo>
                  <a:lnTo>
                    <a:pt x="2491930" y="33845"/>
                  </a:lnTo>
                  <a:lnTo>
                    <a:pt x="2464523" y="9004"/>
                  </a:lnTo>
                  <a:lnTo>
                    <a:pt x="2428570" y="0"/>
                  </a:lnTo>
                  <a:close/>
                </a:path>
              </a:pathLst>
            </a:custGeom>
            <a:solidFill>
              <a:srgbClr val="E1E6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29325" y="2429103"/>
              <a:ext cx="60960" cy="1181100"/>
            </a:xfrm>
            <a:custGeom>
              <a:avLst/>
              <a:gdLst/>
              <a:ahLst/>
              <a:cxnLst/>
              <a:rect l="l" t="t" r="r" b="b"/>
              <a:pathLst>
                <a:path w="60960" h="1181100">
                  <a:moveTo>
                    <a:pt x="38995" y="0"/>
                  </a:moveTo>
                  <a:lnTo>
                    <a:pt x="12830" y="24104"/>
                  </a:lnTo>
                  <a:lnTo>
                    <a:pt x="0" y="66446"/>
                  </a:lnTo>
                  <a:lnTo>
                    <a:pt x="0" y="1114196"/>
                  </a:lnTo>
                  <a:lnTo>
                    <a:pt x="9012" y="1150162"/>
                  </a:lnTo>
                  <a:lnTo>
                    <a:pt x="38988" y="1180642"/>
                  </a:lnTo>
                  <a:lnTo>
                    <a:pt x="60786" y="1175194"/>
                  </a:lnTo>
                  <a:lnTo>
                    <a:pt x="45673" y="1155103"/>
                  </a:lnTo>
                  <a:lnTo>
                    <a:pt x="38114" y="1114196"/>
                  </a:lnTo>
                  <a:lnTo>
                    <a:pt x="38114" y="66446"/>
                  </a:lnTo>
                  <a:lnTo>
                    <a:pt x="38818" y="53441"/>
                  </a:lnTo>
                  <a:lnTo>
                    <a:pt x="52835" y="13055"/>
                  </a:lnTo>
                  <a:lnTo>
                    <a:pt x="56950" y="8229"/>
                  </a:lnTo>
                  <a:lnTo>
                    <a:pt x="60788" y="5448"/>
                  </a:lnTo>
                  <a:lnTo>
                    <a:pt x="38995" y="0"/>
                  </a:lnTo>
                  <a:close/>
                </a:path>
              </a:pathLst>
            </a:custGeom>
            <a:solidFill>
              <a:srgbClr val="4D45E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248348" y="2558262"/>
            <a:ext cx="1579880" cy="868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045"/>
              </a:lnSpc>
              <a:spcBef>
                <a:spcPts val="100"/>
              </a:spcBef>
            </a:pP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EST.</a:t>
            </a:r>
            <a:r>
              <a:rPr dirty="0" sz="11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ATTRITION</a:t>
            </a:r>
            <a:r>
              <a:rPr dirty="0" sz="11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64728B"/>
                </a:solidFill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ts val="3745"/>
              </a:lnSpc>
            </a:pPr>
            <a:r>
              <a:rPr dirty="0" sz="3400" spc="-365">
                <a:solidFill>
                  <a:srgbClr val="0D1728"/>
                </a:solidFill>
                <a:latin typeface="Courier New"/>
                <a:cs typeface="Courier New"/>
              </a:rPr>
              <a:t>$3.3M</a:t>
            </a:r>
            <a:endParaRPr sz="3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000" spc="-40">
                <a:solidFill>
                  <a:srgbClr val="64728B"/>
                </a:solidFill>
                <a:latin typeface="Arial"/>
                <a:cs typeface="Arial"/>
              </a:rPr>
              <a:t>Based</a:t>
            </a:r>
            <a:r>
              <a:rPr dirty="0" sz="10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4728B"/>
                </a:solidFill>
                <a:latin typeface="Arial"/>
                <a:cs typeface="Arial"/>
              </a:rPr>
              <a:t>on</a:t>
            </a:r>
            <a:r>
              <a:rPr dirty="0" sz="100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64728B"/>
                </a:solidFill>
                <a:latin typeface="Arial"/>
                <a:cs typeface="Arial"/>
              </a:rPr>
              <a:t>50%</a:t>
            </a:r>
            <a:r>
              <a:rPr dirty="0" sz="1000" spc="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 spc="-45">
                <a:solidFill>
                  <a:srgbClr val="64728B"/>
                </a:solidFill>
                <a:latin typeface="Arial"/>
                <a:cs typeface="Arial"/>
              </a:rPr>
              <a:t>Repl.</a:t>
            </a:r>
            <a:r>
              <a:rPr dirty="0" sz="10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64728B"/>
                </a:solidFill>
                <a:latin typeface="Arial"/>
                <a:cs typeface="Arial"/>
              </a:rPr>
              <a:t>Cost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49299" y="4065346"/>
            <a:ext cx="7397115" cy="42227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40"/>
              </a:spcBef>
            </a:pPr>
            <a:r>
              <a:rPr dirty="0" sz="1350" spc="-50" b="1">
                <a:latin typeface="Arial"/>
                <a:cs typeface="Arial"/>
              </a:rPr>
              <a:t>Insight</a:t>
            </a:r>
            <a:r>
              <a:rPr dirty="0" sz="1350" spc="-50" b="1">
                <a:latin typeface="Georgia"/>
                <a:cs typeface="Georgia"/>
              </a:rPr>
              <a:t>:</a:t>
            </a:r>
            <a:r>
              <a:rPr dirty="0" sz="1350" spc="-70" b="1">
                <a:latin typeface="Georgia"/>
                <a:cs typeface="Georgia"/>
              </a:rPr>
              <a:t> </a:t>
            </a:r>
            <a:r>
              <a:rPr dirty="0" sz="1300">
                <a:latin typeface="Arial"/>
                <a:cs typeface="Arial"/>
              </a:rPr>
              <a:t>While</a:t>
            </a:r>
            <a:r>
              <a:rPr dirty="0" sz="1300" spc="-7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only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45">
                <a:latin typeface="Arial"/>
                <a:cs typeface="Arial"/>
              </a:rPr>
              <a:t>16%</a:t>
            </a:r>
            <a:r>
              <a:rPr dirty="0" sz="1300" spc="-7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are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"High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Risk",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this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group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accounts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for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disproportionate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amount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potential </a:t>
            </a:r>
            <a:r>
              <a:rPr dirty="0" sz="1300">
                <a:latin typeface="Arial"/>
                <a:cs typeface="Arial"/>
              </a:rPr>
              <a:t>turnover</a:t>
            </a:r>
            <a:r>
              <a:rPr dirty="0" sz="1300" spc="-7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cost.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835" rIns="0" bIns="0" rtlCol="0" vert="horz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605"/>
              </a:spcBef>
            </a:pPr>
            <a:r>
              <a:rPr dirty="0" spc="-200"/>
              <a:t>Drivers</a:t>
            </a:r>
            <a:r>
              <a:rPr dirty="0" sz="2650" spc="-200"/>
              <a:t>:</a:t>
            </a:r>
            <a:r>
              <a:rPr dirty="0" sz="2650" spc="-270"/>
              <a:t> </a:t>
            </a:r>
            <a:r>
              <a:rPr dirty="0" spc="-204"/>
              <a:t>Manager</a:t>
            </a:r>
            <a:r>
              <a:rPr dirty="0" spc="-325"/>
              <a:t> </a:t>
            </a:r>
            <a:r>
              <a:rPr dirty="0" spc="-180"/>
              <a:t>Stability</a:t>
            </a:r>
            <a:r>
              <a:rPr dirty="0" spc="-310"/>
              <a:t> </a:t>
            </a:r>
            <a:r>
              <a:rPr dirty="0" spc="-125"/>
              <a:t>is</a:t>
            </a:r>
            <a:r>
              <a:rPr dirty="0" spc="-330"/>
              <a:t> </a:t>
            </a:r>
            <a:r>
              <a:rPr dirty="0" spc="-145"/>
              <a:t>the</a:t>
            </a:r>
            <a:r>
              <a:rPr dirty="0" spc="-305"/>
              <a:t> </a:t>
            </a:r>
            <a:r>
              <a:rPr dirty="0" spc="-204"/>
              <a:t>primary</a:t>
            </a:r>
            <a:r>
              <a:rPr dirty="0" spc="-340"/>
              <a:t> </a:t>
            </a:r>
            <a:r>
              <a:rPr dirty="0" spc="-125"/>
              <a:t>retention </a:t>
            </a:r>
            <a:r>
              <a:rPr dirty="0" spc="-210"/>
              <a:t>anchor</a:t>
            </a:r>
            <a:r>
              <a:rPr dirty="0" sz="2650" spc="-210"/>
              <a:t>;</a:t>
            </a:r>
            <a:r>
              <a:rPr dirty="0" sz="2650" spc="-295"/>
              <a:t> </a:t>
            </a:r>
            <a:r>
              <a:rPr dirty="0" spc="-215"/>
              <a:t>Overtime</a:t>
            </a:r>
            <a:r>
              <a:rPr dirty="0" spc="-345"/>
              <a:t> </a:t>
            </a:r>
            <a:r>
              <a:rPr dirty="0" spc="-125"/>
              <a:t>is</a:t>
            </a:r>
            <a:r>
              <a:rPr dirty="0" spc="-345"/>
              <a:t> </a:t>
            </a:r>
            <a:r>
              <a:rPr dirty="0" spc="-145"/>
              <a:t>the</a:t>
            </a:r>
            <a:r>
              <a:rPr dirty="0" spc="-310"/>
              <a:t> </a:t>
            </a:r>
            <a:r>
              <a:rPr dirty="0" spc="-165"/>
              <a:t>lead</a:t>
            </a:r>
            <a:r>
              <a:rPr dirty="0" spc="-325"/>
              <a:t> </a:t>
            </a:r>
            <a:r>
              <a:rPr dirty="0" spc="-175"/>
              <a:t>risk</a:t>
            </a:r>
            <a:r>
              <a:rPr dirty="0" spc="-335"/>
              <a:t> </a:t>
            </a:r>
            <a:r>
              <a:rPr dirty="0" spc="-10"/>
              <a:t>accelerator</a:t>
            </a:r>
            <a:r>
              <a:rPr dirty="0" sz="2650" spc="-10"/>
              <a:t>.</a:t>
            </a:r>
            <a:endParaRPr sz="2650"/>
          </a:p>
        </p:txBody>
      </p:sp>
      <p:sp>
        <p:nvSpPr>
          <p:cNvPr id="3" name="object 3" descr=""/>
          <p:cNvSpPr txBox="1"/>
          <p:nvPr/>
        </p:nvSpPr>
        <p:spPr>
          <a:xfrm>
            <a:off x="558799" y="1469072"/>
            <a:ext cx="45745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50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30">
                <a:solidFill>
                  <a:srgbClr val="64728B"/>
                </a:solidFill>
                <a:latin typeface="Arial"/>
                <a:cs typeface="Arial"/>
              </a:rPr>
              <a:t>model</a:t>
            </a:r>
            <a:r>
              <a:rPr dirty="0" sz="150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45">
                <a:solidFill>
                  <a:srgbClr val="64728B"/>
                </a:solidFill>
                <a:latin typeface="Arial"/>
                <a:cs typeface="Arial"/>
              </a:rPr>
              <a:t>reveals</a:t>
            </a:r>
            <a:r>
              <a:rPr dirty="0" sz="1500" spc="-6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4728B"/>
                </a:solidFill>
                <a:latin typeface="Arial"/>
                <a:cs typeface="Arial"/>
              </a:rPr>
              <a:t>distinct</a:t>
            </a:r>
            <a:r>
              <a:rPr dirty="0" sz="1500" spc="-2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450" spc="-50" b="1">
                <a:solidFill>
                  <a:srgbClr val="DA2525"/>
                </a:solidFill>
                <a:latin typeface="Arial"/>
                <a:cs typeface="Arial"/>
              </a:rPr>
              <a:t>Accelerators</a:t>
            </a:r>
            <a:r>
              <a:rPr dirty="0" sz="1450" spc="-75" b="1">
                <a:solidFill>
                  <a:srgbClr val="DA2525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64728B"/>
                </a:solidFill>
                <a:latin typeface="Arial"/>
                <a:cs typeface="Arial"/>
              </a:rPr>
              <a:t>and</a:t>
            </a:r>
            <a:r>
              <a:rPr dirty="0" sz="1500" spc="-6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0C9386"/>
                </a:solidFill>
                <a:latin typeface="Arial"/>
                <a:cs typeface="Arial"/>
              </a:rPr>
              <a:t>Protectors</a:t>
            </a:r>
            <a:r>
              <a:rPr dirty="0" sz="1450" spc="-40">
                <a:solidFill>
                  <a:srgbClr val="64728B"/>
                </a:solidFill>
                <a:latin typeface="Arial"/>
                <a:cs typeface="Arial"/>
              </a:rPr>
              <a:t>.</a:t>
            </a:r>
            <a:endParaRPr sz="14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799" y="2619095"/>
            <a:ext cx="154051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5" b="1">
                <a:solidFill>
                  <a:srgbClr val="64728B"/>
                </a:solidFill>
                <a:latin typeface="Arial"/>
                <a:cs typeface="Arial"/>
              </a:rPr>
              <a:t>YearsWithCurrManager</a:t>
            </a:r>
            <a:endParaRPr sz="11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8799" y="2961995"/>
            <a:ext cx="1152525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 b="1">
                <a:solidFill>
                  <a:srgbClr val="64728B"/>
                </a:solidFill>
                <a:latin typeface="Arial"/>
                <a:cs typeface="Arial"/>
              </a:rPr>
              <a:t>YearsAtCompany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799" y="3304895"/>
            <a:ext cx="65532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5" b="1">
                <a:solidFill>
                  <a:srgbClr val="64728B"/>
                </a:solidFill>
                <a:latin typeface="Arial"/>
                <a:cs typeface="Arial"/>
              </a:rPr>
              <a:t>OverTime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58799" y="3640505"/>
            <a:ext cx="22244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 b="1">
                <a:solidFill>
                  <a:srgbClr val="64728B"/>
                </a:solidFill>
                <a:latin typeface="Arial"/>
                <a:cs typeface="Arial"/>
              </a:rPr>
              <a:t>BusinessTravel</a:t>
            </a:r>
            <a:r>
              <a:rPr dirty="0" sz="1200" spc="-65" b="1">
                <a:solidFill>
                  <a:srgbClr val="64728B"/>
                </a:solidFill>
                <a:latin typeface="Trebuchet MS"/>
                <a:cs typeface="Trebuchet MS"/>
              </a:rPr>
              <a:t>_</a:t>
            </a:r>
            <a:r>
              <a:rPr dirty="0" sz="1150" spc="-65" b="1">
                <a:solidFill>
                  <a:srgbClr val="64728B"/>
                </a:solidFill>
                <a:latin typeface="Arial"/>
                <a:cs typeface="Arial"/>
              </a:rPr>
              <a:t>Travel</a:t>
            </a:r>
            <a:r>
              <a:rPr dirty="0" sz="1200" spc="-65" b="1">
                <a:solidFill>
                  <a:srgbClr val="64728B"/>
                </a:solidFill>
                <a:latin typeface="Trebuchet MS"/>
                <a:cs typeface="Trebuchet MS"/>
              </a:rPr>
              <a:t>_</a:t>
            </a:r>
            <a:r>
              <a:rPr dirty="0" sz="1150" spc="-65" b="1">
                <a:solidFill>
                  <a:srgbClr val="64728B"/>
                </a:solidFill>
                <a:latin typeface="Arial"/>
                <a:cs typeface="Arial"/>
              </a:rPr>
              <a:t>Frequently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799" y="3990695"/>
            <a:ext cx="1676400" cy="20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0" b="1">
                <a:solidFill>
                  <a:srgbClr val="64728B"/>
                </a:solidFill>
                <a:latin typeface="Arial"/>
                <a:cs typeface="Arial"/>
              </a:rPr>
              <a:t>YearsSinceLastPromotion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429000" y="2619375"/>
            <a:ext cx="5143500" cy="228600"/>
            <a:chOff x="3429000" y="2619375"/>
            <a:chExt cx="5143500" cy="228600"/>
          </a:xfrm>
        </p:grpSpPr>
        <p:sp>
          <p:nvSpPr>
            <p:cNvPr id="10" name="object 10" descr=""/>
            <p:cNvSpPr/>
            <p:nvPr/>
          </p:nvSpPr>
          <p:spPr>
            <a:xfrm>
              <a:off x="3429000" y="2619375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10441" y="0"/>
                  </a:moveTo>
                  <a:lnTo>
                    <a:pt x="33050" y="0"/>
                  </a:lnTo>
                  <a:lnTo>
                    <a:pt x="28183" y="952"/>
                  </a:lnTo>
                  <a:lnTo>
                    <a:pt x="0" y="33045"/>
                  </a:lnTo>
                  <a:lnTo>
                    <a:pt x="0" y="195541"/>
                  </a:lnTo>
                  <a:lnTo>
                    <a:pt x="961" y="200405"/>
                  </a:lnTo>
                  <a:lnTo>
                    <a:pt x="28183" y="227647"/>
                  </a:lnTo>
                  <a:lnTo>
                    <a:pt x="33050" y="228600"/>
                  </a:lnTo>
                  <a:lnTo>
                    <a:pt x="5110441" y="228600"/>
                  </a:lnTo>
                  <a:lnTo>
                    <a:pt x="5115318" y="227647"/>
                  </a:lnTo>
                  <a:lnTo>
                    <a:pt x="5143500" y="195541"/>
                  </a:lnTo>
                  <a:lnTo>
                    <a:pt x="5143500" y="33045"/>
                  </a:lnTo>
                  <a:lnTo>
                    <a:pt x="5142522" y="28194"/>
                  </a:lnTo>
                  <a:lnTo>
                    <a:pt x="511044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29000" y="2619375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05400" y="0"/>
                  </a:moveTo>
                  <a:lnTo>
                    <a:pt x="38099" y="0"/>
                  </a:lnTo>
                  <a:lnTo>
                    <a:pt x="30498" y="698"/>
                  </a:lnTo>
                  <a:lnTo>
                    <a:pt x="696" y="30492"/>
                  </a:lnTo>
                  <a:lnTo>
                    <a:pt x="0" y="38100"/>
                  </a:lnTo>
                  <a:lnTo>
                    <a:pt x="2790" y="205130"/>
                  </a:lnTo>
                  <a:lnTo>
                    <a:pt x="38099" y="228600"/>
                  </a:lnTo>
                  <a:lnTo>
                    <a:pt x="5105400" y="228600"/>
                  </a:lnTo>
                  <a:lnTo>
                    <a:pt x="5120030" y="225805"/>
                  </a:lnTo>
                  <a:lnTo>
                    <a:pt x="5143500" y="190500"/>
                  </a:lnTo>
                  <a:lnTo>
                    <a:pt x="5143500" y="38100"/>
                  </a:lnTo>
                  <a:lnTo>
                    <a:pt x="5140706" y="23469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0C93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8285352" y="2631274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FFFFFF"/>
                </a:solidFill>
                <a:latin typeface="Courier New"/>
                <a:cs typeface="Courier New"/>
              </a:rPr>
              <a:t>1.72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429000" y="2962275"/>
            <a:ext cx="5143500" cy="229235"/>
            <a:chOff x="3429000" y="2962275"/>
            <a:chExt cx="5143500" cy="229235"/>
          </a:xfrm>
        </p:grpSpPr>
        <p:sp>
          <p:nvSpPr>
            <p:cNvPr id="14" name="object 14" descr=""/>
            <p:cNvSpPr/>
            <p:nvPr/>
          </p:nvSpPr>
          <p:spPr>
            <a:xfrm>
              <a:off x="3429000" y="2962275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10441" y="0"/>
                  </a:moveTo>
                  <a:lnTo>
                    <a:pt x="33050" y="0"/>
                  </a:lnTo>
                  <a:lnTo>
                    <a:pt x="28183" y="952"/>
                  </a:lnTo>
                  <a:lnTo>
                    <a:pt x="0" y="33045"/>
                  </a:lnTo>
                  <a:lnTo>
                    <a:pt x="0" y="195541"/>
                  </a:lnTo>
                  <a:lnTo>
                    <a:pt x="961" y="200405"/>
                  </a:lnTo>
                  <a:lnTo>
                    <a:pt x="28183" y="227647"/>
                  </a:lnTo>
                  <a:lnTo>
                    <a:pt x="33050" y="228600"/>
                  </a:lnTo>
                  <a:lnTo>
                    <a:pt x="5110441" y="228600"/>
                  </a:lnTo>
                  <a:lnTo>
                    <a:pt x="5115318" y="227647"/>
                  </a:lnTo>
                  <a:lnTo>
                    <a:pt x="5143500" y="195541"/>
                  </a:lnTo>
                  <a:lnTo>
                    <a:pt x="5143500" y="33045"/>
                  </a:lnTo>
                  <a:lnTo>
                    <a:pt x="5142522" y="28194"/>
                  </a:lnTo>
                  <a:lnTo>
                    <a:pt x="511044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429000" y="2962275"/>
              <a:ext cx="5143500" cy="229235"/>
            </a:xfrm>
            <a:custGeom>
              <a:avLst/>
              <a:gdLst/>
              <a:ahLst/>
              <a:cxnLst/>
              <a:rect l="l" t="t" r="r" b="b"/>
              <a:pathLst>
                <a:path w="5143500" h="229235">
                  <a:moveTo>
                    <a:pt x="5105400" y="0"/>
                  </a:moveTo>
                  <a:lnTo>
                    <a:pt x="38101" y="0"/>
                  </a:lnTo>
                  <a:lnTo>
                    <a:pt x="23479" y="2781"/>
                  </a:lnTo>
                  <a:lnTo>
                    <a:pt x="0" y="38100"/>
                  </a:lnTo>
                  <a:lnTo>
                    <a:pt x="0" y="190500"/>
                  </a:lnTo>
                  <a:lnTo>
                    <a:pt x="2791" y="205130"/>
                  </a:lnTo>
                  <a:lnTo>
                    <a:pt x="38101" y="228612"/>
                  </a:lnTo>
                  <a:lnTo>
                    <a:pt x="5105400" y="228600"/>
                  </a:lnTo>
                  <a:lnTo>
                    <a:pt x="5120030" y="225805"/>
                  </a:lnTo>
                  <a:lnTo>
                    <a:pt x="5143500" y="190512"/>
                  </a:lnTo>
                  <a:lnTo>
                    <a:pt x="5143500" y="38100"/>
                  </a:lnTo>
                  <a:lnTo>
                    <a:pt x="5140706" y="23469"/>
                  </a:lnTo>
                  <a:lnTo>
                    <a:pt x="5105400" y="0"/>
                  </a:lnTo>
                  <a:close/>
                </a:path>
              </a:pathLst>
            </a:custGeom>
            <a:solidFill>
              <a:srgbClr val="0C938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238921" y="2974174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FFFFFF"/>
                </a:solidFill>
                <a:latin typeface="Courier New"/>
                <a:cs typeface="Courier New"/>
              </a:rPr>
              <a:t>1.70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429000" y="3305175"/>
            <a:ext cx="5143500" cy="229235"/>
            <a:chOff x="3429000" y="3305175"/>
            <a:chExt cx="5143500" cy="229235"/>
          </a:xfrm>
        </p:grpSpPr>
        <p:sp>
          <p:nvSpPr>
            <p:cNvPr id="18" name="object 18" descr=""/>
            <p:cNvSpPr/>
            <p:nvPr/>
          </p:nvSpPr>
          <p:spPr>
            <a:xfrm>
              <a:off x="3429000" y="3305175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10441" y="0"/>
                  </a:moveTo>
                  <a:lnTo>
                    <a:pt x="33050" y="0"/>
                  </a:lnTo>
                  <a:lnTo>
                    <a:pt x="28183" y="952"/>
                  </a:lnTo>
                  <a:lnTo>
                    <a:pt x="0" y="33045"/>
                  </a:lnTo>
                  <a:lnTo>
                    <a:pt x="0" y="195541"/>
                  </a:lnTo>
                  <a:lnTo>
                    <a:pt x="961" y="200405"/>
                  </a:lnTo>
                  <a:lnTo>
                    <a:pt x="28183" y="227647"/>
                  </a:lnTo>
                  <a:lnTo>
                    <a:pt x="33050" y="228600"/>
                  </a:lnTo>
                  <a:lnTo>
                    <a:pt x="5110441" y="228600"/>
                  </a:lnTo>
                  <a:lnTo>
                    <a:pt x="5115318" y="227647"/>
                  </a:lnTo>
                  <a:lnTo>
                    <a:pt x="5143500" y="195541"/>
                  </a:lnTo>
                  <a:lnTo>
                    <a:pt x="5143500" y="33045"/>
                  </a:lnTo>
                  <a:lnTo>
                    <a:pt x="5142522" y="28194"/>
                  </a:lnTo>
                  <a:lnTo>
                    <a:pt x="511044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429000" y="3305187"/>
              <a:ext cx="5010150" cy="228600"/>
            </a:xfrm>
            <a:custGeom>
              <a:avLst/>
              <a:gdLst/>
              <a:ahLst/>
              <a:cxnLst/>
              <a:rect l="l" t="t" r="r" b="b"/>
              <a:pathLst>
                <a:path w="5010150" h="228600">
                  <a:moveTo>
                    <a:pt x="4977104" y="0"/>
                  </a:moveTo>
                  <a:lnTo>
                    <a:pt x="38101" y="0"/>
                  </a:lnTo>
                  <a:lnTo>
                    <a:pt x="23485" y="2781"/>
                  </a:lnTo>
                  <a:lnTo>
                    <a:pt x="0" y="38087"/>
                  </a:lnTo>
                  <a:lnTo>
                    <a:pt x="0" y="190487"/>
                  </a:lnTo>
                  <a:lnTo>
                    <a:pt x="697" y="198094"/>
                  </a:lnTo>
                  <a:lnTo>
                    <a:pt x="30499" y="227901"/>
                  </a:lnTo>
                  <a:lnTo>
                    <a:pt x="38101" y="228600"/>
                  </a:lnTo>
                  <a:lnTo>
                    <a:pt x="4977104" y="228600"/>
                  </a:lnTo>
                  <a:lnTo>
                    <a:pt x="4986629" y="225729"/>
                  </a:lnTo>
                  <a:lnTo>
                    <a:pt x="5010150" y="195529"/>
                  </a:lnTo>
                  <a:lnTo>
                    <a:pt x="5010150" y="33032"/>
                  </a:lnTo>
                  <a:lnTo>
                    <a:pt x="5009184" y="28181"/>
                  </a:lnTo>
                  <a:lnTo>
                    <a:pt x="4977104" y="0"/>
                  </a:lnTo>
                  <a:close/>
                </a:path>
              </a:pathLst>
            </a:custGeom>
            <a:solidFill>
              <a:srgbClr val="DA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8011070" y="3317075"/>
            <a:ext cx="363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ourier New"/>
                <a:cs typeface="Courier New"/>
              </a:rPr>
              <a:t>+1.65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3429000" y="3648062"/>
            <a:ext cx="5143500" cy="229235"/>
            <a:chOff x="3429000" y="3648062"/>
            <a:chExt cx="5143500" cy="229235"/>
          </a:xfrm>
        </p:grpSpPr>
        <p:sp>
          <p:nvSpPr>
            <p:cNvPr id="22" name="object 22" descr=""/>
            <p:cNvSpPr/>
            <p:nvPr/>
          </p:nvSpPr>
          <p:spPr>
            <a:xfrm>
              <a:off x="3429000" y="3648074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10441" y="0"/>
                  </a:moveTo>
                  <a:lnTo>
                    <a:pt x="33050" y="0"/>
                  </a:lnTo>
                  <a:lnTo>
                    <a:pt x="28183" y="952"/>
                  </a:lnTo>
                  <a:lnTo>
                    <a:pt x="0" y="33045"/>
                  </a:lnTo>
                  <a:lnTo>
                    <a:pt x="0" y="195541"/>
                  </a:lnTo>
                  <a:lnTo>
                    <a:pt x="961" y="200405"/>
                  </a:lnTo>
                  <a:lnTo>
                    <a:pt x="28183" y="227647"/>
                  </a:lnTo>
                  <a:lnTo>
                    <a:pt x="33050" y="228600"/>
                  </a:lnTo>
                  <a:lnTo>
                    <a:pt x="5110441" y="228600"/>
                  </a:lnTo>
                  <a:lnTo>
                    <a:pt x="5115318" y="227647"/>
                  </a:lnTo>
                  <a:lnTo>
                    <a:pt x="5143500" y="195541"/>
                  </a:lnTo>
                  <a:lnTo>
                    <a:pt x="5143500" y="33045"/>
                  </a:lnTo>
                  <a:lnTo>
                    <a:pt x="5142522" y="28194"/>
                  </a:lnTo>
                  <a:lnTo>
                    <a:pt x="511044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29000" y="3648062"/>
              <a:ext cx="4629150" cy="229235"/>
            </a:xfrm>
            <a:custGeom>
              <a:avLst/>
              <a:gdLst/>
              <a:ahLst/>
              <a:cxnLst/>
              <a:rect l="l" t="t" r="r" b="b"/>
              <a:pathLst>
                <a:path w="4629150" h="229235">
                  <a:moveTo>
                    <a:pt x="4596091" y="0"/>
                  </a:moveTo>
                  <a:lnTo>
                    <a:pt x="38097" y="0"/>
                  </a:lnTo>
                  <a:lnTo>
                    <a:pt x="30498" y="698"/>
                  </a:lnTo>
                  <a:lnTo>
                    <a:pt x="696" y="30518"/>
                  </a:lnTo>
                  <a:lnTo>
                    <a:pt x="0" y="38112"/>
                  </a:lnTo>
                  <a:lnTo>
                    <a:pt x="696" y="198107"/>
                  </a:lnTo>
                  <a:lnTo>
                    <a:pt x="30498" y="227926"/>
                  </a:lnTo>
                  <a:lnTo>
                    <a:pt x="38099" y="228625"/>
                  </a:lnTo>
                  <a:lnTo>
                    <a:pt x="4596091" y="228625"/>
                  </a:lnTo>
                  <a:lnTo>
                    <a:pt x="4605629" y="225755"/>
                  </a:lnTo>
                  <a:lnTo>
                    <a:pt x="4629150" y="195567"/>
                  </a:lnTo>
                  <a:lnTo>
                    <a:pt x="4629150" y="33070"/>
                  </a:lnTo>
                  <a:lnTo>
                    <a:pt x="4628172" y="28206"/>
                  </a:lnTo>
                  <a:lnTo>
                    <a:pt x="4596091" y="0"/>
                  </a:lnTo>
                  <a:close/>
                </a:path>
              </a:pathLst>
            </a:custGeom>
            <a:solidFill>
              <a:srgbClr val="DA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7625308" y="3659975"/>
            <a:ext cx="363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ourier New"/>
                <a:cs typeface="Courier New"/>
              </a:rPr>
              <a:t>+1.52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3429000" y="3990962"/>
            <a:ext cx="5143500" cy="229235"/>
            <a:chOff x="3429000" y="3990962"/>
            <a:chExt cx="5143500" cy="229235"/>
          </a:xfrm>
        </p:grpSpPr>
        <p:sp>
          <p:nvSpPr>
            <p:cNvPr id="26" name="object 26" descr=""/>
            <p:cNvSpPr/>
            <p:nvPr/>
          </p:nvSpPr>
          <p:spPr>
            <a:xfrm>
              <a:off x="3429000" y="3990974"/>
              <a:ext cx="5143500" cy="228600"/>
            </a:xfrm>
            <a:custGeom>
              <a:avLst/>
              <a:gdLst/>
              <a:ahLst/>
              <a:cxnLst/>
              <a:rect l="l" t="t" r="r" b="b"/>
              <a:pathLst>
                <a:path w="5143500" h="228600">
                  <a:moveTo>
                    <a:pt x="5110441" y="0"/>
                  </a:moveTo>
                  <a:lnTo>
                    <a:pt x="33050" y="0"/>
                  </a:lnTo>
                  <a:lnTo>
                    <a:pt x="28183" y="952"/>
                  </a:lnTo>
                  <a:lnTo>
                    <a:pt x="0" y="33045"/>
                  </a:lnTo>
                  <a:lnTo>
                    <a:pt x="0" y="195541"/>
                  </a:lnTo>
                  <a:lnTo>
                    <a:pt x="961" y="200405"/>
                  </a:lnTo>
                  <a:lnTo>
                    <a:pt x="28183" y="227647"/>
                  </a:lnTo>
                  <a:lnTo>
                    <a:pt x="33050" y="228600"/>
                  </a:lnTo>
                  <a:lnTo>
                    <a:pt x="5110441" y="228600"/>
                  </a:lnTo>
                  <a:lnTo>
                    <a:pt x="5115318" y="227647"/>
                  </a:lnTo>
                  <a:lnTo>
                    <a:pt x="5143500" y="195541"/>
                  </a:lnTo>
                  <a:lnTo>
                    <a:pt x="5143500" y="33045"/>
                  </a:lnTo>
                  <a:lnTo>
                    <a:pt x="5142522" y="28194"/>
                  </a:lnTo>
                  <a:lnTo>
                    <a:pt x="5110441" y="0"/>
                  </a:lnTo>
                  <a:close/>
                </a:path>
              </a:pathLst>
            </a:custGeom>
            <a:solidFill>
              <a:srgbClr val="F7F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429000" y="3990962"/>
              <a:ext cx="4257675" cy="228600"/>
            </a:xfrm>
            <a:custGeom>
              <a:avLst/>
              <a:gdLst/>
              <a:ahLst/>
              <a:cxnLst/>
              <a:rect l="l" t="t" r="r" b="b"/>
              <a:pathLst>
                <a:path w="4257675" h="228600">
                  <a:moveTo>
                    <a:pt x="4224604" y="0"/>
                  </a:moveTo>
                  <a:lnTo>
                    <a:pt x="38097" y="0"/>
                  </a:lnTo>
                  <a:lnTo>
                    <a:pt x="30498" y="698"/>
                  </a:lnTo>
                  <a:lnTo>
                    <a:pt x="696" y="30505"/>
                  </a:lnTo>
                  <a:lnTo>
                    <a:pt x="0" y="38112"/>
                  </a:lnTo>
                  <a:lnTo>
                    <a:pt x="696" y="198107"/>
                  </a:lnTo>
                  <a:lnTo>
                    <a:pt x="30498" y="227901"/>
                  </a:lnTo>
                  <a:lnTo>
                    <a:pt x="38099" y="228600"/>
                  </a:lnTo>
                  <a:lnTo>
                    <a:pt x="4224616" y="228600"/>
                  </a:lnTo>
                  <a:lnTo>
                    <a:pt x="4234154" y="225755"/>
                  </a:lnTo>
                  <a:lnTo>
                    <a:pt x="4257675" y="195567"/>
                  </a:lnTo>
                  <a:lnTo>
                    <a:pt x="4257675" y="33070"/>
                  </a:lnTo>
                  <a:lnTo>
                    <a:pt x="4256697" y="28206"/>
                  </a:lnTo>
                  <a:lnTo>
                    <a:pt x="4224604" y="0"/>
                  </a:lnTo>
                  <a:close/>
                </a:path>
              </a:pathLst>
            </a:custGeom>
            <a:solidFill>
              <a:srgbClr val="DA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255026" y="4002875"/>
            <a:ext cx="3638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Courier New"/>
                <a:cs typeface="Courier New"/>
              </a:rPr>
              <a:t>+1.39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162623" y="4415688"/>
            <a:ext cx="2417445" cy="36322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57150">
              <a:lnSpc>
                <a:spcPts val="1280"/>
              </a:lnSpc>
              <a:spcBef>
                <a:spcPts val="225"/>
              </a:spcBef>
            </a:pP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*Coefficients</a:t>
            </a:r>
            <a:r>
              <a:rPr dirty="0" sz="115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extracted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from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Logistic </a:t>
            </a:r>
            <a:r>
              <a:rPr dirty="0" sz="1150" spc="-40">
                <a:solidFill>
                  <a:srgbClr val="64728B"/>
                </a:solidFill>
                <a:latin typeface="Arial"/>
                <a:cs typeface="Arial"/>
              </a:rPr>
              <a:t>Regression </a:t>
            </a:r>
            <a:r>
              <a:rPr dirty="0" sz="1150" spc="-20">
                <a:solidFill>
                  <a:srgbClr val="64728B"/>
                </a:solidFill>
                <a:latin typeface="Arial"/>
                <a:cs typeface="Arial"/>
              </a:rPr>
              <a:t>model</a:t>
            </a:r>
            <a:r>
              <a:rPr dirty="0" sz="1150" spc="-2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64728B"/>
                </a:solidFill>
                <a:latin typeface="Arial"/>
                <a:cs typeface="Arial"/>
              </a:rPr>
              <a:t>(C=1.0,</a:t>
            </a:r>
            <a:r>
              <a:rPr dirty="0" sz="11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64728B"/>
                </a:solidFill>
                <a:latin typeface="Arial"/>
                <a:cs typeface="Arial"/>
              </a:rPr>
              <a:t>L2</a:t>
            </a:r>
            <a:r>
              <a:rPr dirty="0" sz="1150" spc="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64728B"/>
                </a:solidFill>
                <a:latin typeface="Arial"/>
                <a:cs typeface="Arial"/>
              </a:rPr>
              <a:t>Penalty).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799" y="307259"/>
            <a:ext cx="7582534" cy="831850"/>
          </a:xfrm>
          <a:prstGeom prst="rect"/>
        </p:spPr>
        <p:txBody>
          <a:bodyPr wrap="square" lIns="0" tIns="76835" rIns="0" bIns="0" rtlCol="0" vert="horz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605"/>
              </a:spcBef>
            </a:pPr>
            <a:r>
              <a:rPr dirty="0" spc="-265"/>
              <a:t>Roadmap</a:t>
            </a:r>
            <a:r>
              <a:rPr dirty="0" sz="2650" spc="-265"/>
              <a:t>:</a:t>
            </a:r>
            <a:r>
              <a:rPr dirty="0" sz="2650" spc="-320"/>
              <a:t> </a:t>
            </a:r>
            <a:r>
              <a:rPr dirty="0" spc="-215"/>
              <a:t>Operationalizing</a:t>
            </a:r>
            <a:r>
              <a:rPr dirty="0" spc="-290"/>
              <a:t> </a:t>
            </a:r>
            <a:r>
              <a:rPr dirty="0" spc="-185"/>
              <a:t>these</a:t>
            </a:r>
            <a:r>
              <a:rPr dirty="0" spc="-275"/>
              <a:t> </a:t>
            </a:r>
            <a:r>
              <a:rPr dirty="0" spc="-215"/>
              <a:t>insights</a:t>
            </a:r>
            <a:r>
              <a:rPr dirty="0" spc="-305"/>
              <a:t> </a:t>
            </a:r>
            <a:r>
              <a:rPr dirty="0" spc="-175"/>
              <a:t>into</a:t>
            </a:r>
            <a:r>
              <a:rPr dirty="0" spc="-305"/>
              <a:t> </a:t>
            </a:r>
            <a:r>
              <a:rPr dirty="0" spc="-60"/>
              <a:t>daily </a:t>
            </a:r>
            <a:r>
              <a:rPr dirty="0" spc="-330"/>
              <a:t>H</a:t>
            </a:r>
            <a:r>
              <a:rPr dirty="0" spc="280"/>
              <a:t>R</a:t>
            </a:r>
            <a:r>
              <a:rPr dirty="0" spc="-20"/>
              <a:t>wo</a:t>
            </a:r>
            <a:r>
              <a:rPr dirty="0" spc="-25"/>
              <a:t>rkf</a:t>
            </a:r>
            <a:r>
              <a:rPr dirty="0" spc="-20"/>
              <a:t>low</a:t>
            </a:r>
            <a:r>
              <a:rPr dirty="0" spc="80"/>
              <a:t>s</a:t>
            </a:r>
            <a:endParaRPr sz="2650"/>
          </a:p>
        </p:txBody>
      </p:sp>
      <p:grpSp>
        <p:nvGrpSpPr>
          <p:cNvPr id="3" name="object 3" descr=""/>
          <p:cNvGrpSpPr/>
          <p:nvPr/>
        </p:nvGrpSpPr>
        <p:grpSpPr>
          <a:xfrm>
            <a:off x="571500" y="1638300"/>
            <a:ext cx="3810000" cy="2334260"/>
            <a:chOff x="571500" y="1638300"/>
            <a:chExt cx="3810000" cy="2334260"/>
          </a:xfrm>
        </p:grpSpPr>
        <p:sp>
          <p:nvSpPr>
            <p:cNvPr id="4" name="object 4" descr=""/>
            <p:cNvSpPr/>
            <p:nvPr/>
          </p:nvSpPr>
          <p:spPr>
            <a:xfrm>
              <a:off x="581355" y="1638299"/>
              <a:ext cx="3790950" cy="60960"/>
            </a:xfrm>
            <a:custGeom>
              <a:avLst/>
              <a:gdLst/>
              <a:ahLst/>
              <a:cxnLst/>
              <a:rect l="l" t="t" r="r" b="b"/>
              <a:pathLst>
                <a:path w="3790950" h="60960">
                  <a:moveTo>
                    <a:pt x="3790391" y="38989"/>
                  </a:moveTo>
                  <a:lnTo>
                    <a:pt x="3789857" y="38100"/>
                  </a:lnTo>
                  <a:lnTo>
                    <a:pt x="3766286" y="12827"/>
                  </a:lnTo>
                  <a:lnTo>
                    <a:pt x="3723944" y="0"/>
                  </a:lnTo>
                  <a:lnTo>
                    <a:pt x="66332" y="0"/>
                  </a:lnTo>
                  <a:lnTo>
                    <a:pt x="37172" y="5803"/>
                  </a:lnTo>
                  <a:lnTo>
                    <a:pt x="2971" y="33858"/>
                  </a:lnTo>
                  <a:lnTo>
                    <a:pt x="0" y="38823"/>
                  </a:lnTo>
                  <a:lnTo>
                    <a:pt x="76" y="39725"/>
                  </a:lnTo>
                  <a:lnTo>
                    <a:pt x="5334" y="60794"/>
                  </a:lnTo>
                  <a:lnTo>
                    <a:pt x="8115" y="56946"/>
                  </a:lnTo>
                  <a:lnTo>
                    <a:pt x="12941" y="52832"/>
                  </a:lnTo>
                  <a:lnTo>
                    <a:pt x="59766" y="38277"/>
                  </a:lnTo>
                  <a:lnTo>
                    <a:pt x="66332" y="38100"/>
                  </a:lnTo>
                  <a:lnTo>
                    <a:pt x="3723944" y="38100"/>
                  </a:lnTo>
                  <a:lnTo>
                    <a:pt x="3749459" y="40995"/>
                  </a:lnTo>
                  <a:lnTo>
                    <a:pt x="3784943" y="60794"/>
                  </a:lnTo>
                  <a:lnTo>
                    <a:pt x="3790391" y="38989"/>
                  </a:lnTo>
                  <a:close/>
                </a:path>
              </a:pathLst>
            </a:custGeom>
            <a:solidFill>
              <a:srgbClr val="4D45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1500" y="1677022"/>
              <a:ext cx="3810000" cy="2295525"/>
            </a:xfrm>
            <a:custGeom>
              <a:avLst/>
              <a:gdLst/>
              <a:ahLst/>
              <a:cxnLst/>
              <a:rect l="l" t="t" r="r" b="b"/>
              <a:pathLst>
                <a:path w="3810000" h="2295525">
                  <a:moveTo>
                    <a:pt x="3800081" y="0"/>
                  </a:moveTo>
                  <a:lnTo>
                    <a:pt x="3794620" y="21831"/>
                  </a:lnTo>
                  <a:lnTo>
                    <a:pt x="3798773" y="27571"/>
                  </a:lnTo>
                  <a:lnTo>
                    <a:pt x="3800449" y="32423"/>
                  </a:lnTo>
                  <a:lnTo>
                    <a:pt x="3800449" y="2218690"/>
                  </a:lnTo>
                  <a:lnTo>
                    <a:pt x="3800144" y="2225281"/>
                  </a:lnTo>
                  <a:lnTo>
                    <a:pt x="3785362" y="2260981"/>
                  </a:lnTo>
                  <a:lnTo>
                    <a:pt x="3753116" y="2282520"/>
                  </a:lnTo>
                  <a:lnTo>
                    <a:pt x="3733800" y="2285377"/>
                  </a:lnTo>
                  <a:lnTo>
                    <a:pt x="76199" y="2285377"/>
                  </a:lnTo>
                  <a:lnTo>
                    <a:pt x="39140" y="2274138"/>
                  </a:lnTo>
                  <a:lnTo>
                    <a:pt x="14591" y="2244229"/>
                  </a:lnTo>
                  <a:lnTo>
                    <a:pt x="9524" y="2218690"/>
                  </a:lnTo>
                  <a:lnTo>
                    <a:pt x="9524" y="32423"/>
                  </a:lnTo>
                  <a:lnTo>
                    <a:pt x="11213" y="27571"/>
                  </a:lnTo>
                  <a:lnTo>
                    <a:pt x="15367" y="21831"/>
                  </a:lnTo>
                  <a:lnTo>
                    <a:pt x="9905" y="0"/>
                  </a:lnTo>
                  <a:lnTo>
                    <a:pt x="0" y="37477"/>
                  </a:lnTo>
                  <a:lnTo>
                    <a:pt x="0" y="2218690"/>
                  </a:lnTo>
                  <a:lnTo>
                    <a:pt x="12826" y="2261044"/>
                  </a:lnTo>
                  <a:lnTo>
                    <a:pt x="22351" y="2272550"/>
                  </a:lnTo>
                  <a:lnTo>
                    <a:pt x="61327" y="2293454"/>
                  </a:lnTo>
                  <a:lnTo>
                    <a:pt x="76199" y="2294928"/>
                  </a:lnTo>
                  <a:lnTo>
                    <a:pt x="3733800" y="2294928"/>
                  </a:lnTo>
                  <a:lnTo>
                    <a:pt x="3776129" y="2282075"/>
                  </a:lnTo>
                  <a:lnTo>
                    <a:pt x="3810000" y="2218690"/>
                  </a:lnTo>
                  <a:lnTo>
                    <a:pt x="3810000" y="37477"/>
                  </a:lnTo>
                  <a:lnTo>
                    <a:pt x="3800081" y="0"/>
                  </a:lnTo>
                  <a:close/>
                </a:path>
              </a:pathLst>
            </a:custGeom>
            <a:solidFill>
              <a:srgbClr val="E1E6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58820" y="1818195"/>
            <a:ext cx="3317875" cy="1746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75" b="1">
                <a:solidFill>
                  <a:srgbClr val="0D1728"/>
                </a:solidFill>
                <a:latin typeface="Arial"/>
                <a:cs typeface="Arial"/>
              </a:rPr>
              <a:t>Prescriptive</a:t>
            </a:r>
            <a:r>
              <a:rPr dirty="0" sz="1600" spc="-25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D1728"/>
                </a:solidFill>
                <a:latin typeface="Arial"/>
                <a:cs typeface="Arial"/>
              </a:rPr>
              <a:t>Analytics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450" spc="-60" b="1">
                <a:solidFill>
                  <a:srgbClr val="4D45E4"/>
                </a:solidFill>
                <a:latin typeface="Arial"/>
                <a:cs typeface="Arial"/>
              </a:rPr>
              <a:t>Phase</a:t>
            </a:r>
            <a:r>
              <a:rPr dirty="0" sz="1450" spc="-100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450" b="1">
                <a:solidFill>
                  <a:srgbClr val="4D45E4"/>
                </a:solidFill>
                <a:latin typeface="Arial"/>
                <a:cs typeface="Arial"/>
              </a:rPr>
              <a:t>2:</a:t>
            </a:r>
            <a:r>
              <a:rPr dirty="0" sz="1450" spc="-50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450" spc="-30" b="1">
                <a:solidFill>
                  <a:srgbClr val="4D45E4"/>
                </a:solidFill>
                <a:latin typeface="Arial"/>
                <a:cs typeface="Arial"/>
              </a:rPr>
              <a:t>The</a:t>
            </a:r>
            <a:r>
              <a:rPr dirty="0" sz="1450" spc="-60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4D45E4"/>
                </a:solidFill>
                <a:latin typeface="Arial"/>
                <a:cs typeface="Arial"/>
              </a:rPr>
              <a:t>"What-</a:t>
            </a:r>
            <a:r>
              <a:rPr dirty="0" sz="1450" b="1">
                <a:solidFill>
                  <a:srgbClr val="4D45E4"/>
                </a:solidFill>
                <a:latin typeface="Arial"/>
                <a:cs typeface="Arial"/>
              </a:rPr>
              <a:t>If"</a:t>
            </a:r>
            <a:r>
              <a:rPr dirty="0" sz="1450" spc="-40" b="1">
                <a:solidFill>
                  <a:srgbClr val="4D45E4"/>
                </a:solidFill>
                <a:latin typeface="Arial"/>
                <a:cs typeface="Arial"/>
              </a:rPr>
              <a:t> </a:t>
            </a:r>
            <a:r>
              <a:rPr dirty="0" sz="1450" spc="-10" b="1">
                <a:solidFill>
                  <a:srgbClr val="4D45E4"/>
                </a:solidFill>
                <a:latin typeface="Arial"/>
                <a:cs typeface="Arial"/>
              </a:rPr>
              <a:t>Calculator</a:t>
            </a: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19500"/>
              </a:lnSpc>
              <a:spcBef>
                <a:spcPts val="1105"/>
              </a:spcBef>
            </a:pP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Move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from </a:t>
            </a:r>
            <a:r>
              <a:rPr dirty="0" sz="1300" spc="-45" i="1">
                <a:solidFill>
                  <a:srgbClr val="64728B"/>
                </a:solidFill>
                <a:latin typeface="Arial"/>
                <a:cs typeface="Arial"/>
              </a:rPr>
              <a:t>predicting</a:t>
            </a:r>
            <a:r>
              <a:rPr dirty="0" sz="1300" spc="-65" i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risk</a:t>
            </a:r>
            <a:r>
              <a:rPr dirty="0" sz="1250" spc="-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250" spc="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300" spc="-55" i="1">
                <a:solidFill>
                  <a:srgbClr val="64728B"/>
                </a:solidFill>
                <a:latin typeface="Arial"/>
                <a:cs typeface="Arial"/>
              </a:rPr>
              <a:t>preventing</a:t>
            </a:r>
            <a:r>
              <a:rPr dirty="0" sz="1300" spc="-70" i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it</a:t>
            </a:r>
            <a:r>
              <a:rPr dirty="0" sz="1200">
                <a:solidFill>
                  <a:srgbClr val="64728B"/>
                </a:solidFill>
                <a:latin typeface="Arial"/>
                <a:cs typeface="Arial"/>
              </a:rPr>
              <a:t>.</a:t>
            </a:r>
            <a:r>
              <a:rPr dirty="0" sz="1200" spc="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This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tool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will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allow</a:t>
            </a:r>
            <a:r>
              <a:rPr dirty="0" sz="1250" spc="-6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managers</a:t>
            </a:r>
            <a:r>
              <a:rPr dirty="0" sz="125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toggle</a:t>
            </a:r>
            <a:r>
              <a:rPr dirty="0" sz="1250" spc="-4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30">
                <a:solidFill>
                  <a:srgbClr val="64728B"/>
                </a:solidFill>
                <a:latin typeface="Arial"/>
                <a:cs typeface="Arial"/>
              </a:rPr>
              <a:t>variables</a:t>
            </a:r>
            <a:r>
              <a:rPr dirty="0" sz="1250" spc="-6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(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e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.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g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., </a:t>
            </a:r>
            <a:r>
              <a:rPr dirty="0" sz="1200" spc="-35">
                <a:solidFill>
                  <a:srgbClr val="64728B"/>
                </a:solidFill>
                <a:latin typeface="Arial"/>
                <a:cs typeface="Arial"/>
              </a:rPr>
              <a:t>"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Reduce</a:t>
            </a:r>
            <a:r>
              <a:rPr dirty="0" sz="125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Travel</a:t>
            </a:r>
            <a:r>
              <a:rPr dirty="0" sz="1200" spc="-25">
                <a:solidFill>
                  <a:srgbClr val="64728B"/>
                </a:solidFill>
                <a:latin typeface="Arial"/>
                <a:cs typeface="Arial"/>
              </a:rPr>
              <a:t>")</a:t>
            </a:r>
            <a:r>
              <a:rPr dirty="0" sz="12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instantly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see</a:t>
            </a:r>
            <a:r>
              <a:rPr dirty="0" sz="125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reduction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in </a:t>
            </a:r>
            <a:r>
              <a:rPr dirty="0" sz="1250" spc="-55">
                <a:solidFill>
                  <a:srgbClr val="64728B"/>
                </a:solidFill>
                <a:latin typeface="Arial"/>
                <a:cs typeface="Arial"/>
              </a:rPr>
              <a:t>Risk</a:t>
            </a:r>
            <a:r>
              <a:rPr dirty="0" sz="12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Probability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762500" y="1638300"/>
            <a:ext cx="3810000" cy="2334260"/>
            <a:chOff x="4762500" y="1638300"/>
            <a:chExt cx="3810000" cy="2334260"/>
          </a:xfrm>
        </p:grpSpPr>
        <p:sp>
          <p:nvSpPr>
            <p:cNvPr id="8" name="object 8" descr=""/>
            <p:cNvSpPr/>
            <p:nvPr/>
          </p:nvSpPr>
          <p:spPr>
            <a:xfrm>
              <a:off x="4772355" y="1638299"/>
              <a:ext cx="3790950" cy="60960"/>
            </a:xfrm>
            <a:custGeom>
              <a:avLst/>
              <a:gdLst/>
              <a:ahLst/>
              <a:cxnLst/>
              <a:rect l="l" t="t" r="r" b="b"/>
              <a:pathLst>
                <a:path w="3790950" h="60960">
                  <a:moveTo>
                    <a:pt x="3790391" y="38989"/>
                  </a:moveTo>
                  <a:lnTo>
                    <a:pt x="3789857" y="38100"/>
                  </a:lnTo>
                  <a:lnTo>
                    <a:pt x="3766286" y="12827"/>
                  </a:lnTo>
                  <a:lnTo>
                    <a:pt x="3723944" y="0"/>
                  </a:lnTo>
                  <a:lnTo>
                    <a:pt x="66344" y="0"/>
                  </a:lnTo>
                  <a:lnTo>
                    <a:pt x="37172" y="5803"/>
                  </a:lnTo>
                  <a:lnTo>
                    <a:pt x="2971" y="33858"/>
                  </a:lnTo>
                  <a:lnTo>
                    <a:pt x="0" y="38823"/>
                  </a:lnTo>
                  <a:lnTo>
                    <a:pt x="76" y="39725"/>
                  </a:lnTo>
                  <a:lnTo>
                    <a:pt x="5346" y="60794"/>
                  </a:lnTo>
                  <a:lnTo>
                    <a:pt x="8128" y="56946"/>
                  </a:lnTo>
                  <a:lnTo>
                    <a:pt x="12941" y="52832"/>
                  </a:lnTo>
                  <a:lnTo>
                    <a:pt x="59778" y="38277"/>
                  </a:lnTo>
                  <a:lnTo>
                    <a:pt x="66344" y="38100"/>
                  </a:lnTo>
                  <a:lnTo>
                    <a:pt x="3723944" y="38100"/>
                  </a:lnTo>
                  <a:lnTo>
                    <a:pt x="3749459" y="40995"/>
                  </a:lnTo>
                  <a:lnTo>
                    <a:pt x="3784943" y="60794"/>
                  </a:lnTo>
                  <a:lnTo>
                    <a:pt x="3790391" y="38989"/>
                  </a:lnTo>
                  <a:close/>
                </a:path>
              </a:pathLst>
            </a:custGeom>
            <a:solidFill>
              <a:srgbClr val="0C93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62500" y="1677022"/>
              <a:ext cx="3810000" cy="2295525"/>
            </a:xfrm>
            <a:custGeom>
              <a:avLst/>
              <a:gdLst/>
              <a:ahLst/>
              <a:cxnLst/>
              <a:rect l="l" t="t" r="r" b="b"/>
              <a:pathLst>
                <a:path w="3810000" h="2295525">
                  <a:moveTo>
                    <a:pt x="3800081" y="0"/>
                  </a:moveTo>
                  <a:lnTo>
                    <a:pt x="3794620" y="21831"/>
                  </a:lnTo>
                  <a:lnTo>
                    <a:pt x="3798773" y="27571"/>
                  </a:lnTo>
                  <a:lnTo>
                    <a:pt x="3800487" y="32423"/>
                  </a:lnTo>
                  <a:lnTo>
                    <a:pt x="3800487" y="2218690"/>
                  </a:lnTo>
                  <a:lnTo>
                    <a:pt x="3800170" y="2225281"/>
                  </a:lnTo>
                  <a:lnTo>
                    <a:pt x="3785362" y="2260981"/>
                  </a:lnTo>
                  <a:lnTo>
                    <a:pt x="3753116" y="2282520"/>
                  </a:lnTo>
                  <a:lnTo>
                    <a:pt x="3733800" y="2285377"/>
                  </a:lnTo>
                  <a:lnTo>
                    <a:pt x="76199" y="2285377"/>
                  </a:lnTo>
                  <a:lnTo>
                    <a:pt x="39140" y="2274138"/>
                  </a:lnTo>
                  <a:lnTo>
                    <a:pt x="29539" y="2266302"/>
                  </a:lnTo>
                  <a:lnTo>
                    <a:pt x="10782" y="2231720"/>
                  </a:lnTo>
                  <a:lnTo>
                    <a:pt x="9498" y="32423"/>
                  </a:lnTo>
                  <a:lnTo>
                    <a:pt x="11213" y="27571"/>
                  </a:lnTo>
                  <a:lnTo>
                    <a:pt x="15367" y="21831"/>
                  </a:lnTo>
                  <a:lnTo>
                    <a:pt x="9905" y="0"/>
                  </a:lnTo>
                  <a:lnTo>
                    <a:pt x="0" y="37477"/>
                  </a:lnTo>
                  <a:lnTo>
                    <a:pt x="0" y="2218690"/>
                  </a:lnTo>
                  <a:lnTo>
                    <a:pt x="12826" y="2261044"/>
                  </a:lnTo>
                  <a:lnTo>
                    <a:pt x="22351" y="2272550"/>
                  </a:lnTo>
                  <a:lnTo>
                    <a:pt x="61327" y="2293454"/>
                  </a:lnTo>
                  <a:lnTo>
                    <a:pt x="76199" y="2294928"/>
                  </a:lnTo>
                  <a:lnTo>
                    <a:pt x="3733800" y="2294928"/>
                  </a:lnTo>
                  <a:lnTo>
                    <a:pt x="3776129" y="2282075"/>
                  </a:lnTo>
                  <a:lnTo>
                    <a:pt x="3810000" y="2218690"/>
                  </a:lnTo>
                  <a:lnTo>
                    <a:pt x="3810000" y="37477"/>
                  </a:lnTo>
                  <a:lnTo>
                    <a:pt x="3800081" y="0"/>
                  </a:lnTo>
                  <a:close/>
                </a:path>
              </a:pathLst>
            </a:custGeom>
            <a:solidFill>
              <a:srgbClr val="E1E6F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949822" y="1818195"/>
            <a:ext cx="3321050" cy="1747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80" b="1">
                <a:solidFill>
                  <a:srgbClr val="0D1728"/>
                </a:solidFill>
                <a:latin typeface="Arial"/>
                <a:cs typeface="Arial"/>
              </a:rPr>
              <a:t>Deployment</a:t>
            </a:r>
            <a:r>
              <a:rPr dirty="0" sz="1600" spc="-110" b="1">
                <a:solidFill>
                  <a:srgbClr val="0D1728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D1728"/>
                </a:solidFill>
                <a:latin typeface="Arial"/>
                <a:cs typeface="Arial"/>
              </a:rPr>
              <a:t>Strategy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dirty="0" sz="1500" spc="-75" b="1">
                <a:solidFill>
                  <a:srgbClr val="0C9386"/>
                </a:solidFill>
                <a:latin typeface="Arial"/>
                <a:cs typeface="Arial"/>
              </a:rPr>
              <a:t>Integration</a:t>
            </a:r>
            <a:r>
              <a:rPr dirty="0" sz="1550" spc="-75" b="1">
                <a:solidFill>
                  <a:srgbClr val="0C9386"/>
                </a:solidFill>
                <a:latin typeface="Arial"/>
                <a:cs typeface="Arial"/>
              </a:rPr>
              <a:t>:</a:t>
            </a:r>
            <a:r>
              <a:rPr dirty="0" sz="1550" spc="-90" b="1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1500" spc="-45" b="1">
                <a:solidFill>
                  <a:srgbClr val="0C9386"/>
                </a:solidFill>
                <a:latin typeface="Arial"/>
                <a:cs typeface="Arial"/>
              </a:rPr>
              <a:t>The </a:t>
            </a:r>
            <a:r>
              <a:rPr dirty="0" sz="1550" spc="-70" b="1">
                <a:solidFill>
                  <a:srgbClr val="0C9386"/>
                </a:solidFill>
                <a:latin typeface="Arial"/>
                <a:cs typeface="Arial"/>
              </a:rPr>
              <a:t>"</a:t>
            </a:r>
            <a:r>
              <a:rPr dirty="0" sz="1500" spc="-70" b="1">
                <a:solidFill>
                  <a:srgbClr val="0C9386"/>
                </a:solidFill>
                <a:latin typeface="Arial"/>
                <a:cs typeface="Arial"/>
              </a:rPr>
              <a:t>Monday</a:t>
            </a:r>
            <a:r>
              <a:rPr dirty="0" sz="1500" spc="-55" b="1">
                <a:solidFill>
                  <a:srgbClr val="0C9386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C9386"/>
                </a:solidFill>
                <a:latin typeface="Arial"/>
                <a:cs typeface="Arial"/>
              </a:rPr>
              <a:t>Warning</a:t>
            </a:r>
            <a:r>
              <a:rPr dirty="0" sz="1550" spc="-10" b="1">
                <a:solidFill>
                  <a:srgbClr val="0C9386"/>
                </a:solidFill>
                <a:latin typeface="Arial"/>
                <a:cs typeface="Arial"/>
              </a:rPr>
              <a:t>"</a:t>
            </a:r>
            <a:endParaRPr sz="155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1145"/>
              </a:spcBef>
            </a:pPr>
            <a:r>
              <a:rPr dirty="0" sz="1250" spc="-45">
                <a:solidFill>
                  <a:srgbClr val="64728B"/>
                </a:solidFill>
                <a:latin typeface="Arial"/>
                <a:cs typeface="Arial"/>
              </a:rPr>
              <a:t>Automate</a:t>
            </a:r>
            <a:r>
              <a:rPr dirty="0" sz="1250" spc="-8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model</a:t>
            </a:r>
            <a:r>
              <a:rPr dirty="0" sz="1250" spc="-5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to</a:t>
            </a:r>
            <a:r>
              <a:rPr dirty="0" sz="1250" spc="-3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run</a:t>
            </a:r>
            <a:r>
              <a:rPr dirty="0" sz="125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weekly</a:t>
            </a:r>
            <a:r>
              <a:rPr dirty="0" sz="1200" spc="-20">
                <a:solidFill>
                  <a:srgbClr val="64728B"/>
                </a:solidFill>
                <a:latin typeface="Arial"/>
                <a:cs typeface="Arial"/>
              </a:rPr>
              <a:t>.</a:t>
            </a:r>
            <a:r>
              <a:rPr dirty="0" sz="1200" spc="-3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60">
                <a:solidFill>
                  <a:srgbClr val="64728B"/>
                </a:solidFill>
                <a:latin typeface="Arial"/>
                <a:cs typeface="Arial"/>
              </a:rPr>
              <a:t>Push</a:t>
            </a:r>
            <a:r>
              <a:rPr dirty="0" sz="1250" spc="-7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alerts</a:t>
            </a:r>
            <a:r>
              <a:rPr dirty="0" sz="12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to </a:t>
            </a:r>
            <a:r>
              <a:rPr dirty="0" sz="1250" spc="-40">
                <a:solidFill>
                  <a:srgbClr val="64728B"/>
                </a:solidFill>
                <a:latin typeface="Arial"/>
                <a:cs typeface="Arial"/>
              </a:rPr>
              <a:t>managers</a:t>
            </a:r>
            <a:r>
              <a:rPr dirty="0" sz="1250" spc="-7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only</a:t>
            </a:r>
            <a:r>
              <a:rPr dirty="0" sz="1250" spc="-4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0">
                <a:solidFill>
                  <a:srgbClr val="64728B"/>
                </a:solidFill>
                <a:latin typeface="Arial"/>
                <a:cs typeface="Arial"/>
              </a:rPr>
              <a:t>when</a:t>
            </a:r>
            <a:r>
              <a:rPr dirty="0" sz="1250" spc="-5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a</a:t>
            </a:r>
            <a:r>
              <a:rPr dirty="0" sz="1250" spc="-9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high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-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performer</a:t>
            </a:r>
            <a:r>
              <a:rPr dirty="0" sz="1250" spc="-4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crosses </a:t>
            </a:r>
            <a:r>
              <a:rPr dirty="0" sz="1250">
                <a:solidFill>
                  <a:srgbClr val="64728B"/>
                </a:solidFill>
                <a:latin typeface="Arial"/>
                <a:cs typeface="Arial"/>
              </a:rPr>
              <a:t>the</a:t>
            </a:r>
            <a:r>
              <a:rPr dirty="0" sz="1250" spc="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64728B"/>
                </a:solidFill>
                <a:latin typeface="Arial"/>
                <a:cs typeface="Arial"/>
              </a:rPr>
              <a:t>70% </a:t>
            </a:r>
            <a:r>
              <a:rPr dirty="0" sz="1250" spc="-70" b="1">
                <a:solidFill>
                  <a:srgbClr val="64728B"/>
                </a:solidFill>
                <a:latin typeface="Arial"/>
                <a:cs typeface="Arial"/>
              </a:rPr>
              <a:t>Risk</a:t>
            </a:r>
            <a:r>
              <a:rPr dirty="0" sz="1250" spc="-160" b="1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45" b="1">
                <a:solidFill>
                  <a:srgbClr val="64728B"/>
                </a:solidFill>
                <a:latin typeface="Arial"/>
                <a:cs typeface="Arial"/>
              </a:rPr>
              <a:t>Threshold</a:t>
            </a:r>
            <a:r>
              <a:rPr dirty="0" sz="1200" spc="-45">
                <a:solidFill>
                  <a:srgbClr val="64728B"/>
                </a:solidFill>
                <a:latin typeface="Arial"/>
                <a:cs typeface="Arial"/>
              </a:rPr>
              <a:t>,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ensuring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 proactive </a:t>
            </a:r>
            <a:r>
              <a:rPr dirty="0" sz="1250" spc="-25">
                <a:solidFill>
                  <a:srgbClr val="64728B"/>
                </a:solidFill>
                <a:latin typeface="Arial"/>
                <a:cs typeface="Arial"/>
              </a:rPr>
              <a:t>retention</a:t>
            </a:r>
            <a:r>
              <a:rPr dirty="0" sz="1250" spc="-15">
                <a:solidFill>
                  <a:srgbClr val="64728B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4728B"/>
                </a:solidFill>
                <a:latin typeface="Arial"/>
                <a:cs typeface="Arial"/>
              </a:rPr>
              <a:t>conversations</a:t>
            </a:r>
            <a:r>
              <a:rPr dirty="0" sz="1200" spc="-10">
                <a:solidFill>
                  <a:srgbClr val="64728B"/>
                </a:solidFill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D45E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2026-01-30T08:45:08Z</dcterms:created>
  <dcterms:modified xsi:type="dcterms:W3CDTF">2026-01-30T08:45:08Z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2026-01-30T00:00:00Z</vt:filetime>
  </property>
  <property fmtid="{D5CDD505-2E9C-101B-9397-08002B2CF9AE}" pid="5" name="Producer">
    <vt:lpwstr>3-Heights(TM) PDF Security Shell 4.8.25.2 (http://www.pdf-tools.com)</vt:lpwstr>
  </property>
</Properties>
</file>